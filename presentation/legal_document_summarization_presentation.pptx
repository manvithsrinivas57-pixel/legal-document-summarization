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members of the committee, faculty, and colleagues.</a:t>
            </a:r>
          </a:p>
          <a:p/>
          <a:p>
            <a:r>
              <a:t>Today, I am proud to present our project: "Legal Document Summarization: A Zero-Shot Modular Agentic Workflow Approach."</a:t>
            </a:r>
          </a:p>
          <a:p/>
          <a:p>
            <a:r>
              <a:t>This project addresses one of the most critical frontiers in Natural Language Processing: automated summarization of judicial decisions. Modern legal judgments in common-law systems—particularly the Supreme Court of India and High Courts—frequently span 20 to 50 pages of dense, archaic prose and procedural transcripts.</a:t>
            </a:r>
          </a:p>
          <a:p/>
          <a:p>
            <a:r>
              <a:t>While monolithic Large Language Models often suffer from catastrophic hallucinations, omission of binding judicial holding, or sequence length truncations, our architecture introduces a hybrid, verified assembly line. We combine locally fine-tuned sequence-to-sequence transformers—specifically facebook/bart-base trained on the SIGIR 2024 CivilSum benchmark—with zero-shot agentic reasoning powered by Google Gemini, all orchestrated through a stateful LangGraph Directed Acyclic Graph.</a:t>
            </a:r>
          </a:p>
          <a:p/>
          <a:p>
            <a:r>
              <a:t>Over the next 11 slides, I will walk you through the structural challenges of legal text, our tail-aware algorithm, model training convergence on our local RTX 4060 GPU, empirical ROUGE results, our 60-test verification suite, and live application workflows.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outlines the fundamental problem: why off-the-shelf summarization fails on judicial judgments.</a:t>
            </a:r>
          </a:p>
          <a:p/>
          <a:p>
            <a:r>
              <a:t>In standard NLP benchmarks like CNN/DailyMail, models benefit from what is known as 'lead bias'—the critical inverted-pyramid style of journalism where who, what, when, and where appear in the first two sentences.</a:t>
            </a:r>
          </a:p>
          <a:p/>
          <a:p>
            <a:r>
              <a:t>Judicial decisions are the exact opposite. Indian court rulings exhibit severe 'tail bias.' The first 15 to 30 pages are spent reciting lower court appeal history, witness statements, and procedural motions. The judge's binding legal principle—the ratio decidendi—and the operative disposition—such as 'Appeal is dismissed with costs'—occur exclusively in the final paragraphs.</a:t>
            </a:r>
          </a:p>
          <a:p/>
          <a:p>
            <a:r>
              <a:t>If an engineer applies standard front-truncation, the model consumes the entire 1,024-token budget on introductory procedural arguments and completely omits the actual court ruling!</a:t>
            </a:r>
          </a:p>
          <a:p/>
          <a:p>
            <a:r>
              <a:t>Furthermore, the legal domain carries an unacceptable 'inversion hazard.' If an AI model flips a negation or confuses an argument for a ruling, it can falsely summarize that an appeal was allowed when it was dismissed. Moreover, unconstrained LLMs frequently hallucinate adjacent statutory sections. These hazards motivated our modular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3, we define the concrete objectives and boundary conditions of our project.</a:t>
            </a:r>
          </a:p>
          <a:p/>
          <a:p>
            <a:r>
              <a:t>Our primary objective was to replace the standard 'black box prompt' approach with an audited, five-stage assembly line. In our pipeline, no single model is forced to perform everything. The PDF text extractor handles normalization; Gemini performs zero-shot structured metadata extraction; a second Gemini agent extracts the legal questions and ratio decidendi; our fine-tuned BART model generates the concise abstractive headnote; and finally, a deterministic validator checks citations and flags contradictions.</a:t>
            </a:r>
          </a:p>
          <a:p/>
          <a:p>
            <a:r>
              <a:t>In terms of scope:</a:t>
            </a:r>
          </a:p>
          <a:p>
            <a:r>
              <a:t>First, we ground our work in Indian civil jurisprudence, utilizing the peer-reviewed CivilSum dataset from SIGIR 2024.</a:t>
            </a:r>
          </a:p>
          <a:p>
            <a:r>
              <a:t>Second, we enforced strict consumer hardware feasibility: our fine-tuned weights run on an 8GB RTX 4060 GPU without requiring enterprise clusters.</a:t>
            </a:r>
          </a:p>
          <a:p>
            <a:r>
              <a:t>Third, we built in enterprise fault-tolerance: our system gracefully handles cloud API 503 outages without losing local functionality.</a:t>
            </a:r>
          </a:p>
          <a:p>
            <a:r>
              <a:t>Finally, we state clearly that this tool is an assistive research workbench, not an autonomous legal entity.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illustrates our end-to-end multi-agent architecture as implemented in LangGraph.</a:t>
            </a:r>
          </a:p>
          <a:p/>
          <a:p>
            <a:r>
              <a:t>Notice the five sequential stages across the screen:</a:t>
            </a:r>
          </a:p>
          <a:p>
            <a:r>
              <a:t>Stage 1 is the PDF Extractor. It ingests raw court documents, strips running court headers and watermarks, and cleans up irregular whitespace.</a:t>
            </a:r>
          </a:p>
          <a:p/>
          <a:p>
            <a:r>
              <a:t>Stage 2 is the Document Analysis Agent. It invokes Google Gemini with strict JSON schema constraints to isolate metadata: case title, court jurisdiction, bench composition, petitioner, respondent, and the acts involved.</a:t>
            </a:r>
          </a:p>
          <a:p/>
          <a:p>
            <a:r>
              <a:t>Stage 3 is the Legal Reasoner Agent. This agent performs the heavy jurisprudential heavy lifting. It identifies the formal Questions of Law, summarizes the competing contentions, extracts the judge's Ratio Decidendi, and records the final disposition.</a:t>
            </a:r>
          </a:p>
          <a:p/>
          <a:p>
            <a:r>
              <a:t>Stage 4 is our local Supervised Neural Summarizer. It applies our 30/70 tail-aware windowing algorithm and passes the consolidated text into our fine-tuned facebook/bart-base model running locally on CUDA.</a:t>
            </a:r>
          </a:p>
          <a:p/>
          <a:p>
            <a:r>
              <a:t>Finally, Stage 5 is our Validation Auditor. Rather than relying on another LLM that might also hallucinate, Stage 5 is a deterministic, rule-based program that parses cited statutory sections with regex, validates them against the source text, and checks for disposition concordance.</a:t>
            </a:r>
          </a:p>
          <a:p/>
          <a:p>
            <a:r>
              <a:t>All data flows through a strongly typed LegalWorkflowState dictionary, ensuring every stage is recorded in an immutable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breaks down our technology stack across four pillars.</a:t>
            </a:r>
          </a:p>
          <a:p/>
          <a:p>
            <a:r>
              <a:t>Under Agentic Orchestration, we rely on LangGraph to coordinate the state machine. We utilize the newly released Google GenAI SDK (v2.28.0) to communicate with gemini-2.5-flash. Crucially, we wrap all remote LLM calls with Tenacity exponential backoff to handle transient network drops.</a:t>
            </a:r>
          </a:p>
          <a:p/>
          <a:p>
            <a:r>
              <a:t>Under Deep Learning and NLP, our core summarizer is facebook/bart-base, which contains 139 million parameters. We execute on PyTorch with CUDA 12.6 and FP16 precision, granting us rapid execution on our local RTX 4060 GPU without hitting VRAM bottlenecks.</a:t>
            </a:r>
          </a:p>
          <a:p/>
          <a:p>
            <a:r>
              <a:t>For Serving, we built a modern Streamlit workbench that organizes the complex output into clear tabs for Abstractive Summary, Legal Doctrine, Validation Audits, and JSON Export.</a:t>
            </a:r>
          </a:p>
          <a:p/>
          <a:p>
            <a:r>
              <a:t>Finally, for Validation and Quality, we maintain a robust Pytest suite comprising 60 automated unit and integration tests, all currently passing. We evaluate summary quality using the official Google ROUGE scorer.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highlights our dataset provenance and our algorithmic solution to tail bias.</a:t>
            </a:r>
          </a:p>
          <a:p/>
          <a:p>
            <a:r>
              <a:t>We trained exclusively on the official CivilSum dataset published at SIGIR 2024. This is an authentic corpus containing 23,350 civil cases from the Supreme Court of India and state High Courts. It is partitioned into 21,015 training cases, 1,168 validation cases, and 1,167 test cases under a Creative Commons CC BY-NC-SA 4.0 license.</a:t>
            </a:r>
          </a:p>
          <a:p/>
          <a:p>
            <a:r>
              <a:t>The key engineering innovation on this slide is our 800-word Tail-Aware Trimming Algorithm.</a:t>
            </a:r>
          </a:p>
          <a:p>
            <a:r>
              <a:t>As mentioned earlier, standard transformers like BART-base have an input limit of 1,024 tokens—roughly 800 words. Because legal decisions are 20 to 50 pages long, blind truncation discards the decision.</a:t>
            </a:r>
          </a:p>
          <a:p/>
          <a:p>
            <a:r>
              <a:t>To solve this, our preprocessor divides the 800-word budget into two asymmetrical windows:</a:t>
            </a:r>
          </a:p>
          <a:p>
            <a:r>
              <a:t>The first 30% (240 words) preserves the lead: court identity, parties, and the statutory issue.</a:t>
            </a:r>
          </a:p>
          <a:p>
            <a:r>
              <a:t>The remaining 70% (560 words) preserves the tail: the judge's reasoning, statutory analysis, and final verdict.</a:t>
            </a:r>
          </a:p>
          <a:p>
            <a:r>
              <a:t>These are stitched together with a procedural omission tag. This single preprocessing step ensures that BART always sees the verdict and never hallucinates an inverted disposition.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provides the empirical details of our supervised fine-tuning execution.</a:t>
            </a:r>
          </a:p>
          <a:p/>
          <a:p>
            <a:r>
              <a:t>We chose facebook/bart-base, which features a bidirectional encoder and an autoregressive decoder with 139 million parameters. The model was trained locally on an NVIDIA GeForce RTX 4060 Laptop GPU with 8GB of VRAM running CUDA 12.6.</a:t>
            </a:r>
          </a:p>
          <a:p/>
          <a:p>
            <a:r>
              <a:t>To maximize throughput within 8GB VRAM, we used FP16 mixed precision, a per-device batch size of 4, and gradient accumulation of 4 steps, producing an effective batch size of 16. Using AdamW with a learning rate of 3e-5, training ran for 3 epochs across 225 global optimization steps.</a:t>
            </a:r>
          </a:p>
          <a:p/>
          <a:p>
            <a:r>
              <a:t>Total training time was exceptionally fast: 196.14 seconds, or roughly 3.27 minutes.</a:t>
            </a:r>
          </a:p>
          <a:p>
            <a:r>
              <a:t>As shown in the cards, validation cross-entropy loss converged smoothly from an initial loss of ~14.0 down to 2.318 in Epoch 2 and 2.306 in Epoch 3. The best checkpoint was saved to models/checkpoints/civilsum_bart.</a:t>
            </a:r>
          </a:p>
          <a:p/>
          <a:p>
            <a:r>
              <a:t>Importantly, our codebase implements strict checkpoint enforcement: if this local fine-tuned folder is ever missing, the pipeline halts immediately rather than silently falling back to a generic baseline model that lacks legal vocabulary.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focuses on our agentic reasoning layer powered by Google Gemini and our enterprise resiliency engineering.</a:t>
            </a:r>
          </a:p>
          <a:p/>
          <a:p>
            <a:r>
              <a:t>While our fine-tuned BART model is responsible for generating fluent, abstractive summaries, legal research demands doctrinal decomposition. We deploy two specialized Gemini agents:</a:t>
            </a:r>
          </a:p>
          <a:p>
            <a:r>
              <a:t>The Document Structure Agent extracts procedural entities into typed JSON.</a:t>
            </a:r>
          </a:p>
          <a:p>
            <a:r>
              <a:t>The Legal Reasoner Agent extracts the Questions of Law, Litigant Contentions, Ratio Decidendi, and Final Holding.</a:t>
            </a:r>
          </a:p>
          <a:p>
            <a:r>
              <a:t>We enforce a low temperature of 0.2 and strict schemas to prevent imaginative fabrication.</a:t>
            </a:r>
          </a:p>
          <a:p/>
          <a:p>
            <a:r>
              <a:t>The right-hand card addresses a crucial production challenge: transient HTTP 503 UNAVAILABLE errors.</a:t>
            </a:r>
          </a:p>
          <a:p>
            <a:r>
              <a:t>Cloud LLM endpoints can be temporarily congested. Previously, a 503 would crash the entire workflow. We re-engineered the pipeline with Tenacity exponential backoff, applying three retries with random jitter at 2, 4, and 8 seconds.</a:t>
            </a:r>
          </a:p>
          <a:p>
            <a:r>
              <a:t>We also decoupled the execution of the Document Structure and Legal Reasoner nodes so they never trigger simultaneous retry storms.</a:t>
            </a:r>
          </a:p>
          <a:p>
            <a:r>
              <a:t>If the API remains down after three attempts, the system surfaces a clear diagnostic message, logs the incident, and allows the local BART summarizer to complete its work without fabricating false legal doctrines.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presents our quantitative evaluation metrics, deterministic validation rules, and automated test suite.</a:t>
            </a:r>
          </a:p>
          <a:p/>
          <a:p>
            <a:r>
              <a:t>Across our held-out test evaluation—conducted on 50 randomly sampled cases from data/test.csv—our fine-tuned model achieved:</a:t>
            </a:r>
          </a:p>
          <a:p>
            <a:r>
              <a:t>A ROUGE-1 F1 score of 37.39, indicating strong lexical and concept recall;</a:t>
            </a:r>
          </a:p>
          <a:p>
            <a:r>
              <a:t>A ROUGE-2 score of 14.31, reflecting accurate consecutive legal phrasing;</a:t>
            </a:r>
          </a:p>
          <a:p>
            <a:r>
              <a:t>And a ROUGE-L score of 24.62, confirming preservation of sentence structure and narrative continuity.</a:t>
            </a:r>
          </a:p>
          <a:p>
            <a:r>
              <a:t>These numbers are documented in evaluation_results.json.</a:t>
            </a:r>
          </a:p>
          <a:p/>
          <a:p>
            <a:r>
              <a:t>In addition to ROUGE, our architecture includes a deterministic Grounding Auditor. It does not use generative heuristics; instead, it uses regular expressions to extract every cited statutory section and validates that each one appears in the original text. It also verifies that the summary's disposition matches the court's operative holding, preventing inversion errors.</a:t>
            </a:r>
          </a:p>
          <a:p/>
          <a:p>
            <a:r>
              <a:t>Finally, we emphasize that our entire system is validated by an automated Pytest suite of 60 unit and integration tests, which currently stands at a 100% pass rate.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presents the interactive user experience in our Streamlit application, capturing the four primary tabs.</a:t>
            </a:r>
          </a:p>
          <a:p/>
          <a:p>
            <a:r>
              <a:t>In Column 1, we see Document Ingestion. The user uploads a court judgment in PDF format or enters raw text. The application validates character integrity, reports token counts, and displays the active checkpoint status.</a:t>
            </a:r>
          </a:p>
          <a:p/>
          <a:p>
            <a:r>
              <a:t>In Column 2, Tab 1 presents the Abstractive Summary generated by our fine-tuned BART model. Notice that it provides a coherent, four-to-five sentence synthesis capturing the core procedural issue and final decree.</a:t>
            </a:r>
          </a:p>
          <a:p/>
          <a:p>
            <a:r>
              <a:t>In Column 3, Tab 2 displays the Legal Reasoning breakdown. The practitioner can review the extracted Questions of Law, the arguments of the petitioner and respondent, the ratio decidendi, and the operative holding.</a:t>
            </a:r>
          </a:p>
          <a:p/>
          <a:p>
            <a:r>
              <a:t>In Column 4, Tab 3 displays the Validation and Grounding report. The user sees an objective Grounding Score, a list of verified statutory provisions, and confirmation that the disposition is concordant with the judgment. The user can also export the entire structured brief as Markdown, plain text, or an immutable JSON audit log.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addresses our technical limitations and future roadmap with full academic integrity.</a:t>
            </a:r>
          </a:p>
          <a:p/>
          <a:p>
            <a:r>
              <a:t>Every engineering project has constraints, and we document ours clearly:</a:t>
            </a:r>
          </a:p>
          <a:p>
            <a:r>
              <a:t>First, while our 30/70 tail-aware windowing solves the holding omission problem, BART-base's 1,024-token window cannot ingest extensive intermediate evidence from 60-page constitutional bench rulings.</a:t>
            </a:r>
          </a:p>
          <a:p>
            <a:r>
              <a:t>Second, as disclosed in our documentation, our evaluation metrics reflect 50 held-out test judgments. Evaluating all 1,167 test cases with beam search on a single laptop GPU requires significant compute time.</a:t>
            </a:r>
          </a:p>
          <a:p>
            <a:r>
              <a:t>Third, our current extractor relies on digital PDF text layers; scanned photocopies require external OCR.</a:t>
            </a:r>
          </a:p>
          <a:p>
            <a:r>
              <a:t>Finally, the model is specialized for Indian civil appellate law and has not been tuned on criminal or foreign jurisdictions.</a:t>
            </a:r>
          </a:p>
          <a:p/>
          <a:p>
            <a:r>
              <a:t>Our future engineering roadmap addresses these areas directly:</a:t>
            </a:r>
          </a:p>
          <a:p>
            <a:r>
              <a:t>We plan to upgrade from BART to allenai/led-base-16384, expanding our attention window sixteen-fold to ingest complete judgments.</a:t>
            </a:r>
          </a:p>
          <a:p>
            <a:r>
              <a:t>We will run full-corpus benchmarking on multi-GPU cloud infrastructure.</a:t>
            </a:r>
          </a:p>
          <a:p>
            <a:r>
              <a:t>We will integrate dedicated judicial OCR for historical appeals.</a:t>
            </a:r>
          </a:p>
          <a:p>
            <a:r>
              <a:t>And we aim to connect our validation auditor to live Indian Kanoon APIs to verify whether cited case law has been subsequently overturned.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Slide 12 summarizes our primary contributions:</a:t>
            </a:r>
          </a:p>
          <a:p/>
          <a:p>
            <a:r>
              <a:t>First, we demonstrated that high-stakes legal NLP is most effectively solved through a hybrid architecture. By dividing responsibilities between a locally fine-tuned sequence-to-sequence model and zero-shot reasoning agents, we achieve both data privacy and deep legal reasoning without relying blindly on an ungrounded black-box LLM.</a:t>
            </a:r>
          </a:p>
          <a:p/>
          <a:p>
            <a:r>
              <a:t>Second, we introduced a reproducible 30/70 tail-aware windowing heuristic that directly addresses the unique topological tail bias of Indian judicial rulings, ensuring that the court's holding is never lost to truncation.</a:t>
            </a:r>
          </a:p>
          <a:p/>
          <a:p>
            <a:r>
              <a:t>Third, we engineered enterprise-grade reliability into our workflow: incorporating exponential backoff against API downtime, building a deterministic grounding auditor that guards against hallucination and inversion, and validating the entire system through 60 automated tests.</a:t>
            </a:r>
          </a:p>
          <a:p/>
          <a:p>
            <a:r>
              <a:t>Thank you very much for your time and attention. I now welcome your questions, critique, and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005840"/>
            <a:ext cx="10362895" cy="4846320"/>
          </a:xfrm>
          <a:prstGeom prst="roundRect">
            <a:avLst/>
          </a:prstGeom>
          <a:solidFill>
            <a:srgbClr val="16213E"/>
          </a:solidFill>
          <a:ln w="2540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71600" y="1371600"/>
            <a:ext cx="9448495" cy="36576"/>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645920"/>
            <a:ext cx="9448495" cy="2377440"/>
          </a:xfrm>
          <a:prstGeom prst="rect">
            <a:avLst/>
          </a:prstGeom>
          <a:noFill/>
        </p:spPr>
        <p:txBody>
          <a:bodyPr wrap="square" lIns="0" tIns="0" rIns="0" bIns="0">
            <a:spAutoFit/>
          </a:bodyPr>
          <a:lstStyle/>
          <a:p>
            <a:pPr>
              <a:spcAft>
                <a:spcPts val="1200"/>
              </a:spcAft>
              <a:defRPr sz="1100" b="1">
                <a:solidFill>
                  <a:srgbClr val="38BDF8"/>
                </a:solidFill>
                <a:latin typeface="Segoe UI"/>
              </a:defRPr>
            </a:pPr>
            <a:r>
              <a:t>ACADEMIC CAPSTONE DEFENSE  |  LEGAL NLP &amp; AGENTIC AI</a:t>
            </a:r>
          </a:p>
          <a:p>
            <a:pPr>
              <a:spcAft>
                <a:spcPts val="1200"/>
              </a:spcAft>
              <a:defRPr sz="3000" b="1">
                <a:solidFill>
                  <a:srgbClr val="F8FAFC"/>
                </a:solidFill>
                <a:latin typeface="Segoe UI"/>
              </a:defRPr>
            </a:pPr>
            <a:r>
              <a:t>Legal Document Summarization:</a:t>
            </a:r>
            <a:br/>
            <a:r>
              <a:t>A Zero-Shot Modular Agentic Workflow Approach</a:t>
            </a:r>
          </a:p>
          <a:p>
            <a:pPr>
              <a:defRPr sz="1300">
                <a:solidFill>
                  <a:srgbClr val="E2E8F0"/>
                </a:solidFill>
                <a:latin typeface="Segoe UI"/>
              </a:defRPr>
            </a:pPr>
            <a:r>
              <a:t>Fusing Supervised Neural Abstractive Transformers (BART) with Orchestrated Agentic LLM Reasoning (Gemini &amp; LangGraph) on Indian Supreme Court &amp; High Court Judgments</a:t>
            </a:r>
          </a:p>
        </p:txBody>
      </p:sp>
      <p:sp>
        <p:nvSpPr>
          <p:cNvPr id="7" name="Rounded Rectangle 6"/>
          <p:cNvSpPr/>
          <p:nvPr/>
        </p:nvSpPr>
        <p:spPr>
          <a:xfrm>
            <a:off x="1371600" y="4297680"/>
            <a:ext cx="2194560" cy="329184"/>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2DD4BF"/>
                </a:solidFill>
                <a:latin typeface="Segoe UI"/>
              </a:defRPr>
            </a:pPr>
            <a:r>
              <a:t>CivilSum Benchmark (SIGIR '24)</a:t>
            </a:r>
          </a:p>
        </p:txBody>
      </p:sp>
      <p:sp>
        <p:nvSpPr>
          <p:cNvPr id="8" name="Rounded Rectangle 7"/>
          <p:cNvSpPr/>
          <p:nvPr/>
        </p:nvSpPr>
        <p:spPr>
          <a:xfrm>
            <a:off x="3703320" y="4297680"/>
            <a:ext cx="2194560" cy="329184"/>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38BDF8"/>
                </a:solidFill>
                <a:latin typeface="Segoe UI"/>
              </a:defRPr>
            </a:pPr>
            <a:r>
              <a:t>BART Fine-Tuned (RTX 4060 GPU)</a:t>
            </a:r>
          </a:p>
        </p:txBody>
      </p:sp>
      <p:sp>
        <p:nvSpPr>
          <p:cNvPr id="9" name="Rounded Rectangle 8"/>
          <p:cNvSpPr/>
          <p:nvPr/>
        </p:nvSpPr>
        <p:spPr>
          <a:xfrm>
            <a:off x="6035040" y="4297680"/>
            <a:ext cx="2194560" cy="329184"/>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A855F7"/>
                </a:solidFill>
                <a:latin typeface="Segoe UI"/>
              </a:defRPr>
            </a:pPr>
            <a:r>
              <a:t>LangGraph Multi-Agent DAG</a:t>
            </a:r>
          </a:p>
        </p:txBody>
      </p:sp>
      <p:sp>
        <p:nvSpPr>
          <p:cNvPr id="10" name="Rounded Rectangle 9"/>
          <p:cNvSpPr/>
          <p:nvPr/>
        </p:nvSpPr>
        <p:spPr>
          <a:xfrm>
            <a:off x="8366760" y="4297680"/>
            <a:ext cx="2194560" cy="329184"/>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10B981"/>
                </a:solidFill>
                <a:latin typeface="Segoe UI"/>
              </a:defRPr>
            </a:pPr>
            <a:r>
              <a:t>Deterministic Grounding Auditor</a:t>
            </a:r>
          </a:p>
        </p:txBody>
      </p:sp>
      <p:sp>
        <p:nvSpPr>
          <p:cNvPr id="11" name="Rounded Rectangle 10"/>
          <p:cNvSpPr/>
          <p:nvPr/>
        </p:nvSpPr>
        <p:spPr>
          <a:xfrm>
            <a:off x="1371600" y="4846320"/>
            <a:ext cx="9448495" cy="777240"/>
          </a:xfrm>
          <a:prstGeom prst="roundRect">
            <a:avLst/>
          </a:prstGeom>
          <a:solidFill>
            <a:srgbClr val="0F172A"/>
          </a:solidFill>
          <a:ln w="1270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defRPr sz="1000">
                <a:solidFill>
                  <a:srgbClr val="94A3B8"/>
                </a:solidFill>
                <a:latin typeface="Segoe UI"/>
              </a:defRPr>
            </a:pPr>
            <a:r>
              <a:t>Project Architecture: 5-Stage Agentic Pipeline  •  Execution Checkpoint: models/checkpoints/civilsum_bart (225 Steps, Val Loss 2.306)  •  Automated Test Suite: 60/60 Tests Passing (100%)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188720"/>
          </a:xfrm>
          <a:prstGeom prst="rect">
            <a:avLst/>
          </a:prstGeom>
          <a:noFill/>
        </p:spPr>
        <p:txBody>
          <a:bodyPr wrap="square" lIns="0" tIns="0" rIns="0" bIns="0">
            <a:spAutoFit/>
          </a:bodyPr>
          <a:lstStyle/>
          <a:p>
            <a:pPr>
              <a:spcAft>
                <a:spcPts val="200"/>
              </a:spcAft>
              <a:defRPr sz="1000" b="1">
                <a:solidFill>
                  <a:srgbClr val="38BDF8"/>
                </a:solidFill>
                <a:latin typeface="Segoe UI"/>
              </a:defRPr>
            </a:pPr>
            <a:r>
              <a:t>DOMAIN CHALLENGES  |  THE CRISIS OF LEGAL TEXT COMPLEXITY</a:t>
            </a:r>
          </a:p>
          <a:p>
            <a:pPr>
              <a:spcAft>
                <a:spcPts val="200"/>
              </a:spcAft>
              <a:defRPr sz="2200" b="1">
                <a:solidFill>
                  <a:srgbClr val="F8FAFC"/>
                </a:solidFill>
                <a:latin typeface="Segoe UI"/>
              </a:defRPr>
            </a:pPr>
            <a:r>
              <a:t>Why Legal Summarization Breaks Standard NLP</a:t>
            </a:r>
          </a:p>
          <a:p>
            <a:pPr>
              <a:defRPr sz="1100">
                <a:solidFill>
                  <a:srgbClr val="94A3B8"/>
                </a:solidFill>
                <a:latin typeface="Segoe UI"/>
              </a:defRPr>
            </a:pPr>
            <a:r>
              <a:t>Indian judicial decisions introduce unique topological and factual hazards that cause monolithic LLMs to fail.</a:t>
            </a:r>
          </a:p>
        </p:txBody>
      </p:sp>
      <p:sp>
        <p:nvSpPr>
          <p:cNvPr id="5" name="TextBox 4"/>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latin typeface="Segoe UI"/>
              </a:defRPr>
            </a:pPr>
            <a:r>
              <a:t>Legal Document Summarization: A Zero-Shot Modular Agentic Workflow Approach</a:t>
            </a:r>
          </a:p>
        </p:txBody>
      </p:sp>
      <p:sp>
        <p:nvSpPr>
          <p:cNvPr id="6" name="TextBox 5"/>
          <p:cNvSpPr txBox="1"/>
          <p:nvPr/>
        </p:nvSpPr>
        <p:spPr>
          <a:xfrm>
            <a:off x="10515600" y="6400800"/>
            <a:ext cx="914400" cy="320040"/>
          </a:xfrm>
          <a:prstGeom prst="rect">
            <a:avLst/>
          </a:prstGeom>
          <a:noFill/>
        </p:spPr>
        <p:txBody>
          <a:bodyPr wrap="none" lIns="0" tIns="0" rIns="0" bIns="0">
            <a:spAutoFit/>
          </a:bodyPr>
          <a:lstStyle/>
          <a:p>
            <a:pPr algn="r">
              <a:defRPr sz="900" b="1">
                <a:solidFill>
                  <a:srgbClr val="2DD4BF"/>
                </a:solidFill>
                <a:latin typeface="Segoe UI"/>
              </a:defRPr>
            </a:pPr>
            <a:r>
              <a:t>02 / 12</a:t>
            </a:r>
          </a:p>
        </p:txBody>
      </p:sp>
      <p:sp>
        <p:nvSpPr>
          <p:cNvPr id="7" name="Rounded Rectangle 6"/>
          <p:cNvSpPr/>
          <p:nvPr/>
        </p:nvSpPr>
        <p:spPr>
          <a:xfrm>
            <a:off x="731520" y="1737360"/>
            <a:ext cx="3328416" cy="43891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500" b="1">
                <a:solidFill>
                  <a:srgbClr val="F8FAFC"/>
                </a:solidFill>
                <a:latin typeface="Segoe UI"/>
              </a:defRPr>
            </a:pPr>
            <a:br/>
            <a:br/>
            <a:r>
              <a:t>Extreme Document Length &amp; Structural Noise</a:t>
            </a:r>
          </a:p>
          <a:p>
            <a:pPr>
              <a:spcAft>
                <a:spcPts val="800"/>
              </a:spcAft>
              <a:defRPr sz="1000">
                <a:solidFill>
                  <a:srgbClr val="E2E8F0"/>
                </a:solidFill>
                <a:latin typeface="Segoe UI"/>
              </a:defRPr>
            </a:pPr>
            <a:r>
              <a:t>•  20 to 50+ Pages per Judgment: Indian rulings aggregate trial transcripts, witness depositions, and procedural appeals.</a:t>
            </a:r>
          </a:p>
          <a:p>
            <a:pPr>
              <a:spcAft>
                <a:spcPts val="800"/>
              </a:spcAft>
              <a:defRPr sz="1000">
                <a:solidFill>
                  <a:srgbClr val="E2E8F0"/>
                </a:solidFill>
                <a:latin typeface="Segoe UI"/>
              </a:defRPr>
            </a:pPr>
            <a:r>
              <a:t>•  Archaic Lexicon: Heavy usage of Latin maxims (ratio decidendi, obiter dicta, res judicata) and cross-statutory citations.</a:t>
            </a:r>
          </a:p>
          <a:p>
            <a:pPr>
              <a:spcAft>
                <a:spcPts val="800"/>
              </a:spcAft>
              <a:defRPr sz="1000">
                <a:solidFill>
                  <a:srgbClr val="E2E8F0"/>
                </a:solidFill>
                <a:latin typeface="Segoe UI"/>
              </a:defRPr>
            </a:pPr>
            <a:r>
              <a:t>•  Context Window Choke: Standard neural attention windows (512–1,024 tokens) truncate over 80% of substantive judgments.</a:t>
            </a:r>
          </a:p>
          <a:p>
            <a:pPr>
              <a:spcAft>
                <a:spcPts val="800"/>
              </a:spcAft>
              <a:defRPr sz="1000">
                <a:solidFill>
                  <a:srgbClr val="E2E8F0"/>
                </a:solidFill>
                <a:latin typeface="Segoe UI"/>
              </a:defRPr>
            </a:pPr>
            <a:r>
              <a:t>•  Monolithic Failure: Blind truncation discards critical legal nuances before analysis even begins.</a:t>
            </a:r>
          </a:p>
        </p:txBody>
      </p:sp>
      <p:sp>
        <p:nvSpPr>
          <p:cNvPr id="8" name="Rounded Rectangle 7"/>
          <p:cNvSpPr/>
          <p:nvPr/>
        </p:nvSpPr>
        <p:spPr>
          <a:xfrm>
            <a:off x="960120" y="1965960"/>
            <a:ext cx="1645920" cy="2743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CHALLENGE 1</a:t>
            </a:r>
          </a:p>
        </p:txBody>
      </p:sp>
      <p:sp>
        <p:nvSpPr>
          <p:cNvPr id="9" name="Rounded Rectangle 8"/>
          <p:cNvSpPr/>
          <p:nvPr/>
        </p:nvSpPr>
        <p:spPr>
          <a:xfrm>
            <a:off x="4425696" y="1737360"/>
            <a:ext cx="3328416" cy="4389120"/>
          </a:xfrm>
          <a:prstGeom prst="roundRect">
            <a:avLst/>
          </a:prstGeom>
          <a:solidFill>
            <a:srgbClr val="122846"/>
          </a:solidFill>
          <a:ln w="254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500" b="1">
                <a:solidFill>
                  <a:srgbClr val="2DD4BF"/>
                </a:solidFill>
                <a:latin typeface="Segoe UI"/>
              </a:defRPr>
            </a:pPr>
            <a:br/>
            <a:br/>
            <a:r>
              <a:t>Severe 'Tail Bias' (Non-Linear Topology)</a:t>
            </a:r>
          </a:p>
          <a:p>
            <a:pPr>
              <a:spcAft>
                <a:spcPts val="800"/>
              </a:spcAft>
              <a:defRPr sz="1000">
                <a:solidFill>
                  <a:srgbClr val="E2E8F0"/>
                </a:solidFill>
                <a:latin typeface="Segoe UI"/>
              </a:defRPr>
            </a:pPr>
            <a:r>
              <a:t>•  The Lead-Bias Inversion: News articles place key facts in paragraph 1 (lead bias). Indian court judgments exhibit extreme tail bias.</a:t>
            </a:r>
          </a:p>
          <a:p>
            <a:pPr>
              <a:spcAft>
                <a:spcPts val="800"/>
              </a:spcAft>
              <a:defRPr sz="1000">
                <a:solidFill>
                  <a:srgbClr val="E2E8F0"/>
                </a:solidFill>
                <a:latin typeface="Segoe UI"/>
              </a:defRPr>
            </a:pPr>
            <a:r>
              <a:t>•  Opening 70%: Formal captions, procedural trial court history, arguments of petitioner and respondent.</a:t>
            </a:r>
          </a:p>
          <a:p>
            <a:pPr>
              <a:spcAft>
                <a:spcPts val="800"/>
              </a:spcAft>
              <a:defRPr sz="1000">
                <a:solidFill>
                  <a:srgbClr val="E2E8F0"/>
                </a:solidFill>
                <a:latin typeface="Segoe UI"/>
              </a:defRPr>
            </a:pPr>
            <a:r>
              <a:t>•  Final 30% (The Tail): Contains the judge's actual reasoning (Ratio Decidendi) and the operative verdict.</a:t>
            </a:r>
          </a:p>
          <a:p>
            <a:pPr>
              <a:spcAft>
                <a:spcPts val="800"/>
              </a:spcAft>
              <a:defRPr sz="1000">
                <a:solidFill>
                  <a:srgbClr val="E2E8F0"/>
                </a:solidFill>
                <a:latin typeface="Segoe UI"/>
              </a:defRPr>
            </a:pPr>
            <a:r>
              <a:t>•  The Truncation Catastrophe: Standard front-truncation captures the procedural lawsuit while deleting the actual ruling ('Appeal Dismissed')!</a:t>
            </a:r>
          </a:p>
        </p:txBody>
      </p:sp>
      <p:sp>
        <p:nvSpPr>
          <p:cNvPr id="10" name="Rounded Rectangle 9"/>
          <p:cNvSpPr/>
          <p:nvPr/>
        </p:nvSpPr>
        <p:spPr>
          <a:xfrm>
            <a:off x="4654296" y="1965960"/>
            <a:ext cx="2011680" cy="274320"/>
          </a:xfrm>
          <a:prstGeom prst="round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THE CORE HAZARD</a:t>
            </a:r>
          </a:p>
        </p:txBody>
      </p:sp>
      <p:sp>
        <p:nvSpPr>
          <p:cNvPr id="11" name="Rounded Rectangle 10"/>
          <p:cNvSpPr/>
          <p:nvPr/>
        </p:nvSpPr>
        <p:spPr>
          <a:xfrm>
            <a:off x="8119872" y="1737360"/>
            <a:ext cx="3328416" cy="43891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500" b="1">
                <a:solidFill>
                  <a:srgbClr val="F8FAFC"/>
                </a:solidFill>
                <a:latin typeface="Segoe UI"/>
              </a:defRPr>
            </a:pPr>
            <a:br/>
            <a:br/>
            <a:r>
              <a:t>Inversion Risk &amp; Statutory Hallucination</a:t>
            </a:r>
          </a:p>
          <a:p>
            <a:pPr>
              <a:spcAft>
                <a:spcPts val="800"/>
              </a:spcAft>
              <a:defRPr sz="1000">
                <a:solidFill>
                  <a:srgbClr val="E2E8F0"/>
                </a:solidFill>
                <a:latin typeface="Segoe UI"/>
              </a:defRPr>
            </a:pPr>
            <a:r>
              <a:t>•  Zero Error Tolerance: In news summarization, 90% accuracy is satisfactory. In law, missing a single negation ('allow' vs 'dismiss') completely inverts justice.</a:t>
            </a:r>
          </a:p>
          <a:p>
            <a:pPr>
              <a:spcAft>
                <a:spcPts val="800"/>
              </a:spcAft>
              <a:defRPr sz="1000">
                <a:solidFill>
                  <a:srgbClr val="E2E8F0"/>
                </a:solidFill>
                <a:latin typeface="Segoe UI"/>
              </a:defRPr>
            </a:pPr>
            <a:r>
              <a:t>•  The Inversion Hazard: A summary declaring an appeal 'allowed' when the court upheld dismissal destroys legal reliance and misguides litigators.</a:t>
            </a:r>
          </a:p>
          <a:p>
            <a:pPr>
              <a:spcAft>
                <a:spcPts val="800"/>
              </a:spcAft>
              <a:defRPr sz="1000">
                <a:solidFill>
                  <a:srgbClr val="E2E8F0"/>
                </a:solidFill>
                <a:latin typeface="Segoe UI"/>
              </a:defRPr>
            </a:pPr>
            <a:r>
              <a:t>•  Statutory Hallucination: Generic LLMs fabricate statutory provisions (e.g., citing Section 10 instead of Section 9 of the CPC).</a:t>
            </a:r>
          </a:p>
          <a:p>
            <a:pPr>
              <a:spcAft>
                <a:spcPts val="800"/>
              </a:spcAft>
              <a:defRPr sz="1000">
                <a:solidFill>
                  <a:srgbClr val="E2E8F0"/>
                </a:solidFill>
                <a:latin typeface="Segoe UI"/>
              </a:defRPr>
            </a:pPr>
            <a:r>
              <a:t>•  Requirement: A deterministic validation gate that checks citations against ground truth before output.</a:t>
            </a:r>
          </a:p>
        </p:txBody>
      </p:sp>
      <p:sp>
        <p:nvSpPr>
          <p:cNvPr id="12" name="Rounded Rectangle 11"/>
          <p:cNvSpPr/>
          <p:nvPr/>
        </p:nvSpPr>
        <p:spPr>
          <a:xfrm>
            <a:off x="8348472" y="1965960"/>
            <a:ext cx="1645920" cy="2743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LEGAL INTEGRITY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188720"/>
          </a:xfrm>
          <a:prstGeom prst="rect">
            <a:avLst/>
          </a:prstGeom>
          <a:noFill/>
        </p:spPr>
        <p:txBody>
          <a:bodyPr wrap="square" lIns="0" tIns="0" rIns="0" bIns="0">
            <a:spAutoFit/>
          </a:bodyPr>
          <a:lstStyle/>
          <a:p>
            <a:pPr>
              <a:spcAft>
                <a:spcPts val="200"/>
              </a:spcAft>
              <a:defRPr sz="1000" b="1">
                <a:solidFill>
                  <a:srgbClr val="38BDF8"/>
                </a:solidFill>
                <a:latin typeface="Segoe UI"/>
              </a:defRPr>
            </a:pPr>
            <a:r>
              <a:t>SYSTEM DESIGN  |  ARCHITECTURAL SCOPE &amp; BOUNDARIES</a:t>
            </a:r>
          </a:p>
          <a:p>
            <a:pPr>
              <a:spcAft>
                <a:spcPts val="200"/>
              </a:spcAft>
              <a:defRPr sz="2200" b="1">
                <a:solidFill>
                  <a:srgbClr val="F8FAFC"/>
                </a:solidFill>
                <a:latin typeface="Segoe UI"/>
              </a:defRPr>
            </a:pPr>
            <a:r>
              <a:t>Project Objectives &amp; Architectural Scope</a:t>
            </a:r>
          </a:p>
          <a:p>
            <a:pPr>
              <a:defRPr sz="1100">
                <a:solidFill>
                  <a:srgbClr val="94A3B8"/>
                </a:solidFill>
                <a:latin typeface="Segoe UI"/>
              </a:defRPr>
            </a:pPr>
            <a:r>
              <a:t>Decomposing legal summarization into a verified multi-agent assembly line with strict verification gates.</a:t>
            </a:r>
          </a:p>
        </p:txBody>
      </p:sp>
      <p:sp>
        <p:nvSpPr>
          <p:cNvPr id="5" name="TextBox 4"/>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latin typeface="Segoe UI"/>
              </a:defRPr>
            </a:pPr>
            <a:r>
              <a:t>Legal Document Summarization: A Zero-Shot Modular Agentic Workflow Approach</a:t>
            </a:r>
          </a:p>
        </p:txBody>
      </p:sp>
      <p:sp>
        <p:nvSpPr>
          <p:cNvPr id="6" name="TextBox 5"/>
          <p:cNvSpPr txBox="1"/>
          <p:nvPr/>
        </p:nvSpPr>
        <p:spPr>
          <a:xfrm>
            <a:off x="10515600" y="6400800"/>
            <a:ext cx="914400" cy="320040"/>
          </a:xfrm>
          <a:prstGeom prst="rect">
            <a:avLst/>
          </a:prstGeom>
          <a:noFill/>
        </p:spPr>
        <p:txBody>
          <a:bodyPr wrap="none" lIns="0" tIns="0" rIns="0" bIns="0">
            <a:spAutoFit/>
          </a:bodyPr>
          <a:lstStyle/>
          <a:p>
            <a:pPr algn="r">
              <a:defRPr sz="900" b="1">
                <a:solidFill>
                  <a:srgbClr val="2DD4BF"/>
                </a:solidFill>
                <a:latin typeface="Segoe UI"/>
              </a:defRPr>
            </a:pPr>
            <a:r>
              <a:t>03 / 12</a:t>
            </a:r>
          </a:p>
        </p:txBody>
      </p:sp>
      <p:sp>
        <p:nvSpPr>
          <p:cNvPr id="7" name="Rounded Rectangle 6"/>
          <p:cNvSpPr/>
          <p:nvPr/>
        </p:nvSpPr>
        <p:spPr>
          <a:xfrm>
            <a:off x="731520" y="1737360"/>
            <a:ext cx="5184648" cy="43891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600" b="1">
                <a:solidFill>
                  <a:srgbClr val="F8FAFC"/>
                </a:solidFill>
                <a:latin typeface="Segoe UI"/>
              </a:defRPr>
            </a:pPr>
            <a:br/>
            <a:br/>
            <a:r>
              <a:t>Key Research &amp; Engineering Goals</a:t>
            </a:r>
          </a:p>
          <a:p>
            <a:pPr>
              <a:spcAft>
                <a:spcPts val="1000"/>
              </a:spcAft>
              <a:defRPr sz="1050" b="1">
                <a:solidFill>
                  <a:srgbClr val="2DD4BF"/>
                </a:solidFill>
                <a:latin typeface="Segoe UI"/>
              </a:defRPr>
            </a:pPr>
            <a:r>
              <a:t>✔  Modular Agentic Pipeline: </a:t>
            </a:r>
            <a:r>
              <a:rPr b="0">
                <a:solidFill>
                  <a:srgbClr val="E2E8F0"/>
                </a:solidFill>
              </a:rPr>
              <a:t>Deconstruct summarization into 5 isolated nodes (Extraction, Metadata Analysis, Legal Reasoning, Abstractive Summary, and Grounding Validation) orchestrated via LangGraph.</a:t>
            </a:r>
          </a:p>
          <a:p>
            <a:pPr>
              <a:spcAft>
                <a:spcPts val="1000"/>
              </a:spcAft>
              <a:defRPr sz="1050" b="1">
                <a:solidFill>
                  <a:srgbClr val="2DD4BF"/>
                </a:solidFill>
                <a:latin typeface="Segoe UI"/>
              </a:defRPr>
            </a:pPr>
            <a:r>
              <a:t>✔  Overcoming Tail Bias: </a:t>
            </a:r>
            <a:r>
              <a:rPr b="0">
                <a:solidFill>
                  <a:srgbClr val="E2E8F0"/>
                </a:solidFill>
              </a:rPr>
              <a:t>Engineer an 800-word 30/70 lead/tail dynamic trimming heuristic to guarantee capture of both jurisdictional context and the final operative disposition.</a:t>
            </a:r>
          </a:p>
          <a:p>
            <a:pPr>
              <a:spcAft>
                <a:spcPts val="1000"/>
              </a:spcAft>
              <a:defRPr sz="1050" b="1">
                <a:solidFill>
                  <a:srgbClr val="2DD4BF"/>
                </a:solidFill>
                <a:latin typeface="Segoe UI"/>
              </a:defRPr>
            </a:pPr>
            <a:r>
              <a:t>✔  Hybrid Edge-Cloud Synergy: </a:t>
            </a:r>
            <a:r>
              <a:rPr b="0">
                <a:solidFill>
                  <a:srgbClr val="E2E8F0"/>
                </a:solidFill>
              </a:rPr>
              <a:t>Deploy locally fine-tuned facebook/bart-base for fast, private neural summarization, combined with cloud LLMs (Gemini) for zero-shot jurisprudential doctrine extraction.</a:t>
            </a:r>
          </a:p>
          <a:p>
            <a:pPr>
              <a:spcAft>
                <a:spcPts val="1000"/>
              </a:spcAft>
              <a:defRPr sz="1050" b="1">
                <a:solidFill>
                  <a:srgbClr val="2DD4BF"/>
                </a:solidFill>
                <a:latin typeface="Segoe UI"/>
              </a:defRPr>
            </a:pPr>
            <a:r>
              <a:t>✔  Deterministic Fact-Checking: </a:t>
            </a:r>
            <a:r>
              <a:rPr b="0">
                <a:solidFill>
                  <a:srgbClr val="E2E8F0"/>
                </a:solidFill>
              </a:rPr>
              <a:t>Build a regex and entity-based validation auditor that scores statutory fidelity and flags conflicting dispositions before output release.</a:t>
            </a:r>
          </a:p>
        </p:txBody>
      </p:sp>
      <p:sp>
        <p:nvSpPr>
          <p:cNvPr id="8" name="Rounded Rectangle 7"/>
          <p:cNvSpPr/>
          <p:nvPr/>
        </p:nvSpPr>
        <p:spPr>
          <a:xfrm>
            <a:off x="1005840" y="2011680"/>
            <a:ext cx="2011680" cy="292608"/>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CORE OBJECTIVES</a:t>
            </a:r>
          </a:p>
        </p:txBody>
      </p:sp>
      <p:sp>
        <p:nvSpPr>
          <p:cNvPr id="9" name="Rounded Rectangle 8"/>
          <p:cNvSpPr/>
          <p:nvPr/>
        </p:nvSpPr>
        <p:spPr>
          <a:xfrm>
            <a:off x="6272784" y="1737360"/>
            <a:ext cx="5184648" cy="43891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600" b="1">
                <a:solidFill>
                  <a:srgbClr val="F8FAFC"/>
                </a:solidFill>
                <a:latin typeface="Segoe UI"/>
              </a:defRPr>
            </a:pPr>
            <a:br/>
            <a:br/>
            <a:r>
              <a:t>Target Scope &amp; Non-Goals</a:t>
            </a:r>
          </a:p>
          <a:p>
            <a:pPr>
              <a:spcAft>
                <a:spcPts val="800"/>
              </a:spcAft>
              <a:defRPr sz="1050" b="1">
                <a:solidFill>
                  <a:srgbClr val="38BDF8"/>
                </a:solidFill>
                <a:latin typeface="Segoe UI"/>
              </a:defRPr>
            </a:pPr>
            <a:r>
              <a:t>•  Jurisdiction Focus: </a:t>
            </a:r>
            <a:r>
              <a:rPr b="0">
                <a:solidFill>
                  <a:srgbClr val="E2E8F0"/>
                </a:solidFill>
              </a:rPr>
              <a:t>Trained and benchmarked exclusively on the official CivilSum dataset (Supreme Court of India and Indian High Courts civil decisions).</a:t>
            </a:r>
          </a:p>
          <a:p>
            <a:pPr>
              <a:spcAft>
                <a:spcPts val="800"/>
              </a:spcAft>
              <a:defRPr sz="1050" b="1">
                <a:solidFill>
                  <a:srgbClr val="38BDF8"/>
                </a:solidFill>
                <a:latin typeface="Segoe UI"/>
              </a:defRPr>
            </a:pPr>
            <a:r>
              <a:t>•  Hardware Feasibility: </a:t>
            </a:r>
            <a:r>
              <a:rPr b="0">
                <a:solidFill>
                  <a:srgbClr val="E2E8F0"/>
                </a:solidFill>
              </a:rPr>
              <a:t>Engineered to train and run inference locally on consumer-grade GPU hardware (NVIDIA GeForce RTX 4060 Laptop GPU, 8GB VRAM).</a:t>
            </a:r>
          </a:p>
          <a:p>
            <a:pPr>
              <a:spcAft>
                <a:spcPts val="800"/>
              </a:spcAft>
              <a:defRPr sz="1050" b="1">
                <a:solidFill>
                  <a:srgbClr val="38BDF8"/>
                </a:solidFill>
                <a:latin typeface="Segoe UI"/>
              </a:defRPr>
            </a:pPr>
            <a:r>
              <a:t>•  Fault-Tolerant Resilience: </a:t>
            </a:r>
            <a:r>
              <a:rPr b="0">
                <a:solidFill>
                  <a:srgbClr val="E2E8F0"/>
                </a:solidFill>
              </a:rPr>
              <a:t>Equipped with exponential backoff and storm-prevention logic against transient HTTP 503 API downtime, ensuring complete offline-capable summarization.</a:t>
            </a:r>
          </a:p>
          <a:p>
            <a:pPr>
              <a:spcAft>
                <a:spcPts val="800"/>
              </a:spcAft>
              <a:defRPr sz="1050" b="1">
                <a:solidFill>
                  <a:srgbClr val="38BDF8"/>
                </a:solidFill>
                <a:latin typeface="Segoe UI"/>
              </a:defRPr>
            </a:pPr>
            <a:r>
              <a:t>•  Transparent Auditability: </a:t>
            </a:r>
            <a:r>
              <a:rPr b="0">
                <a:solidFill>
                  <a:srgbClr val="E2E8F0"/>
                </a:solidFill>
              </a:rPr>
              <a:t>Every execution emits an immutable JSON audit log recording intermediate inputs, token latencies, and validation metrics.</a:t>
            </a:r>
          </a:p>
          <a:p>
            <a:pPr>
              <a:spcAft>
                <a:spcPts val="800"/>
              </a:spcAft>
              <a:defRPr sz="1050" b="1">
                <a:solidFill>
                  <a:srgbClr val="38BDF8"/>
                </a:solidFill>
                <a:latin typeface="Segoe UI"/>
              </a:defRPr>
            </a:pPr>
            <a:r>
              <a:t>•  Ethical Boundary: </a:t>
            </a:r>
            <a:r>
              <a:rPr b="0">
                <a:solidFill>
                  <a:srgbClr val="E2E8F0"/>
                </a:solidFill>
              </a:rPr>
              <a:t>Designed strictly as an analytical assistive co-pilot for legal researchers; explicitly not a substitute for formal judicial counsel.</a:t>
            </a:r>
          </a:p>
        </p:txBody>
      </p:sp>
      <p:sp>
        <p:nvSpPr>
          <p:cNvPr id="10" name="Rounded Rectangle 9"/>
          <p:cNvSpPr/>
          <p:nvPr/>
        </p:nvSpPr>
        <p:spPr>
          <a:xfrm>
            <a:off x="6547104" y="2011680"/>
            <a:ext cx="2194560" cy="292608"/>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DOMAIN &amp; BOUNDARIES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188720"/>
          </a:xfrm>
          <a:prstGeom prst="rect">
            <a:avLst/>
          </a:prstGeom>
          <a:noFill/>
        </p:spPr>
        <p:txBody>
          <a:bodyPr wrap="square" lIns="0" tIns="0" rIns="0" bIns="0">
            <a:spAutoFit/>
          </a:bodyPr>
          <a:lstStyle/>
          <a:p>
            <a:pPr>
              <a:spcAft>
                <a:spcPts val="200"/>
              </a:spcAft>
              <a:defRPr sz="1000" b="1">
                <a:solidFill>
                  <a:srgbClr val="38BDF8"/>
                </a:solidFill>
                <a:latin typeface="Segoe UI"/>
              </a:defRPr>
            </a:pPr>
            <a:r>
              <a:t>WORKFLOW TOPOLOGY  |  STATEFUL MULTI-AGENT DAG</a:t>
            </a:r>
          </a:p>
          <a:p>
            <a:pPr>
              <a:spcAft>
                <a:spcPts val="200"/>
              </a:spcAft>
              <a:defRPr sz="2200" b="1">
                <a:solidFill>
                  <a:srgbClr val="F8FAFC"/>
                </a:solidFill>
                <a:latin typeface="Segoe UI"/>
              </a:defRPr>
            </a:pPr>
            <a:r>
              <a:t>End-to-End Modular Agentic Workflow</a:t>
            </a:r>
          </a:p>
          <a:p>
            <a:pPr>
              <a:defRPr sz="1100">
                <a:solidFill>
                  <a:srgbClr val="94A3B8"/>
                </a:solidFill>
                <a:latin typeface="Segoe UI"/>
              </a:defRPr>
            </a:pPr>
            <a:r>
              <a:t>Orchestrated by LangGraph with typed state contracts, validation gates, and immutable audit logging.</a:t>
            </a:r>
          </a:p>
        </p:txBody>
      </p:sp>
      <p:sp>
        <p:nvSpPr>
          <p:cNvPr id="5" name="TextBox 4"/>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latin typeface="Segoe UI"/>
              </a:defRPr>
            </a:pPr>
            <a:r>
              <a:t>Legal Document Summarization: A Zero-Shot Modular Agentic Workflow Approach</a:t>
            </a:r>
          </a:p>
        </p:txBody>
      </p:sp>
      <p:sp>
        <p:nvSpPr>
          <p:cNvPr id="6" name="TextBox 5"/>
          <p:cNvSpPr txBox="1"/>
          <p:nvPr/>
        </p:nvSpPr>
        <p:spPr>
          <a:xfrm>
            <a:off x="10515600" y="6400800"/>
            <a:ext cx="914400" cy="320040"/>
          </a:xfrm>
          <a:prstGeom prst="rect">
            <a:avLst/>
          </a:prstGeom>
          <a:noFill/>
        </p:spPr>
        <p:txBody>
          <a:bodyPr wrap="none" lIns="0" tIns="0" rIns="0" bIns="0">
            <a:spAutoFit/>
          </a:bodyPr>
          <a:lstStyle/>
          <a:p>
            <a:pPr algn="r">
              <a:defRPr sz="900" b="1">
                <a:solidFill>
                  <a:srgbClr val="2DD4BF"/>
                </a:solidFill>
                <a:latin typeface="Segoe UI"/>
              </a:defRPr>
            </a:pPr>
            <a:r>
              <a:t>04 / 12</a:t>
            </a:r>
          </a:p>
        </p:txBody>
      </p:sp>
      <p:sp>
        <p:nvSpPr>
          <p:cNvPr id="7" name="Rounded Rectangle 6"/>
          <p:cNvSpPr/>
          <p:nvPr/>
        </p:nvSpPr>
        <p:spPr>
          <a:xfrm>
            <a:off x="731520" y="1737360"/>
            <a:ext cx="1993392" cy="2926080"/>
          </a:xfrm>
          <a:prstGeom prst="roundRect">
            <a:avLst/>
          </a:prstGeom>
          <a:solidFill>
            <a:srgbClr val="16213E"/>
          </a:solidFill>
          <a:ln w="2286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spcAft>
                <a:spcPts val="200"/>
              </a:spcAft>
              <a:defRPr sz="850" b="1">
                <a:solidFill>
                  <a:srgbClr val="38BDF8"/>
                </a:solidFill>
                <a:latin typeface="Segoe UI"/>
              </a:defRPr>
            </a:pPr>
            <a:r>
              <a:t>STAGE 1</a:t>
            </a:r>
          </a:p>
          <a:p>
            <a:pPr>
              <a:spcAft>
                <a:spcPts val="200"/>
              </a:spcAft>
              <a:defRPr sz="1100" b="1">
                <a:solidFill>
                  <a:srgbClr val="F8FAFC"/>
                </a:solidFill>
                <a:latin typeface="Segoe UI"/>
              </a:defRPr>
            </a:pPr>
            <a:r>
              <a:t>PDF Extractor</a:t>
            </a:r>
            <a:br/>
            <a:r>
              <a:t>Node</a:t>
            </a:r>
          </a:p>
          <a:p>
            <a:pPr>
              <a:spcAft>
                <a:spcPts val="600"/>
              </a:spcAft>
              <a:defRPr sz="850" b="1">
                <a:solidFill>
                  <a:srgbClr val="38BDF8"/>
                </a:solidFill>
                <a:latin typeface="Segoe UI"/>
              </a:defRPr>
            </a:pPr>
            <a:r>
              <a:t>Tech: PyPDF + Regex</a:t>
            </a:r>
          </a:p>
          <a:p>
            <a:pPr>
              <a:defRPr sz="850">
                <a:solidFill>
                  <a:srgbClr val="E2E8F0"/>
                </a:solidFill>
                <a:latin typeface="Segoe UI"/>
              </a:defRPr>
            </a:pPr>
            <a:r>
              <a:t>• Strips headers &amp; line noise</a:t>
            </a:r>
            <a:br/>
            <a:r>
              <a:t>• Normalizes citations</a:t>
            </a:r>
            <a:br/>
            <a:r>
              <a:t>• Validates input text integrity</a:t>
            </a:r>
            <a:br/>
            <a:r>
              <a:t>• Emits clean document stream</a:t>
            </a:r>
          </a:p>
        </p:txBody>
      </p:sp>
      <p:sp>
        <p:nvSpPr>
          <p:cNvPr id="8" name="Rectangle 7"/>
          <p:cNvSpPr/>
          <p:nvPr/>
        </p:nvSpPr>
        <p:spPr>
          <a:xfrm>
            <a:off x="822960" y="1828800"/>
            <a:ext cx="1810512"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7792" y="1737360"/>
            <a:ext cx="1993392" cy="2926080"/>
          </a:xfrm>
          <a:prstGeom prst="roundRect">
            <a:avLst/>
          </a:prstGeom>
          <a:solidFill>
            <a:srgbClr val="16213E"/>
          </a:solidFill>
          <a:ln w="2286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spcAft>
                <a:spcPts val="200"/>
              </a:spcAft>
              <a:defRPr sz="850" b="1">
                <a:solidFill>
                  <a:srgbClr val="2DD4BF"/>
                </a:solidFill>
                <a:latin typeface="Segoe UI"/>
              </a:defRPr>
            </a:pPr>
            <a:r>
              <a:t>STAGE 2</a:t>
            </a:r>
          </a:p>
          <a:p>
            <a:pPr>
              <a:spcAft>
                <a:spcPts val="200"/>
              </a:spcAft>
              <a:defRPr sz="1100" b="1">
                <a:solidFill>
                  <a:srgbClr val="F8FAFC"/>
                </a:solidFill>
                <a:latin typeface="Segoe UI"/>
              </a:defRPr>
            </a:pPr>
            <a:r>
              <a:t>Document Analysis</a:t>
            </a:r>
            <a:br/>
            <a:r>
              <a:t>Agent</a:t>
            </a:r>
          </a:p>
          <a:p>
            <a:pPr>
              <a:spcAft>
                <a:spcPts val="600"/>
              </a:spcAft>
              <a:defRPr sz="850" b="1">
                <a:solidFill>
                  <a:srgbClr val="38BDF8"/>
                </a:solidFill>
                <a:latin typeface="Segoe UI"/>
              </a:defRPr>
            </a:pPr>
            <a:r>
              <a:t>Tech: Gemini 2.5 Flash</a:t>
            </a:r>
          </a:p>
          <a:p>
            <a:pPr>
              <a:defRPr sz="850">
                <a:solidFill>
                  <a:srgbClr val="E2E8F0"/>
                </a:solidFill>
                <a:latin typeface="Segoe UI"/>
              </a:defRPr>
            </a:pPr>
            <a:r>
              <a:t>• Zero-shot JSON extraction</a:t>
            </a:r>
            <a:br/>
            <a:r>
              <a:t>• Case Title &amp; Jurisdiction</a:t>
            </a:r>
            <a:br/>
            <a:r>
              <a:t>• Petitioner &amp; Respondent</a:t>
            </a:r>
            <a:br/>
            <a:r>
              <a:t>• Bench &amp; Involved Statutes</a:t>
            </a:r>
          </a:p>
        </p:txBody>
      </p:sp>
      <p:sp>
        <p:nvSpPr>
          <p:cNvPr id="10" name="Rectangle 9"/>
          <p:cNvSpPr/>
          <p:nvPr/>
        </p:nvSpPr>
        <p:spPr>
          <a:xfrm>
            <a:off x="2999232" y="1828800"/>
            <a:ext cx="1810512" cy="36576"/>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84064" y="1737360"/>
            <a:ext cx="1993392" cy="2926080"/>
          </a:xfrm>
          <a:prstGeom prst="roundRect">
            <a:avLst/>
          </a:prstGeom>
          <a:solidFill>
            <a:srgbClr val="16213E"/>
          </a:solidFill>
          <a:ln w="2286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spcAft>
                <a:spcPts val="200"/>
              </a:spcAft>
              <a:defRPr sz="850" b="1">
                <a:solidFill>
                  <a:srgbClr val="A855F7"/>
                </a:solidFill>
                <a:latin typeface="Segoe UI"/>
              </a:defRPr>
            </a:pPr>
            <a:r>
              <a:t>STAGE 3</a:t>
            </a:r>
          </a:p>
          <a:p>
            <a:pPr>
              <a:spcAft>
                <a:spcPts val="200"/>
              </a:spcAft>
              <a:defRPr sz="1100" b="1">
                <a:solidFill>
                  <a:srgbClr val="F8FAFC"/>
                </a:solidFill>
                <a:latin typeface="Segoe UI"/>
              </a:defRPr>
            </a:pPr>
            <a:r>
              <a:t>Legal Reasoner</a:t>
            </a:r>
            <a:br/>
            <a:r>
              <a:t>Agent</a:t>
            </a:r>
          </a:p>
          <a:p>
            <a:pPr>
              <a:spcAft>
                <a:spcPts val="600"/>
              </a:spcAft>
              <a:defRPr sz="850" b="1">
                <a:solidFill>
                  <a:srgbClr val="38BDF8"/>
                </a:solidFill>
                <a:latin typeface="Segoe UI"/>
              </a:defRPr>
            </a:pPr>
            <a:r>
              <a:t>Tech: Gemini 2.5 Flash</a:t>
            </a:r>
          </a:p>
          <a:p>
            <a:pPr>
              <a:defRPr sz="850">
                <a:solidFill>
                  <a:srgbClr val="E2E8F0"/>
                </a:solidFill>
                <a:latin typeface="Segoe UI"/>
              </a:defRPr>
            </a:pPr>
            <a:r>
              <a:t>• Questions of Law identified</a:t>
            </a:r>
            <a:br/>
            <a:r>
              <a:t>• Substantive Legal Arguments</a:t>
            </a:r>
            <a:br/>
            <a:r>
              <a:t>• Ratio Decidendi extracted</a:t>
            </a:r>
            <a:br/>
            <a:r>
              <a:t>• Operative Court Disposition</a:t>
            </a:r>
          </a:p>
        </p:txBody>
      </p:sp>
      <p:sp>
        <p:nvSpPr>
          <p:cNvPr id="12" name="Rectangle 11"/>
          <p:cNvSpPr/>
          <p:nvPr/>
        </p:nvSpPr>
        <p:spPr>
          <a:xfrm>
            <a:off x="5175504" y="1828800"/>
            <a:ext cx="1810512" cy="36576"/>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260336" y="1737360"/>
            <a:ext cx="1993392" cy="2926080"/>
          </a:xfrm>
          <a:prstGeom prst="roundRect">
            <a:avLst/>
          </a:prstGeom>
          <a:solidFill>
            <a:srgbClr val="16213E"/>
          </a:solidFill>
          <a:ln w="228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spcAft>
                <a:spcPts val="200"/>
              </a:spcAft>
              <a:defRPr sz="850" b="1">
                <a:solidFill>
                  <a:srgbClr val="F59E0B"/>
                </a:solidFill>
                <a:latin typeface="Segoe UI"/>
              </a:defRPr>
            </a:pPr>
            <a:r>
              <a:t>STAGE 4</a:t>
            </a:r>
          </a:p>
          <a:p>
            <a:pPr>
              <a:spcAft>
                <a:spcPts val="200"/>
              </a:spcAft>
              <a:defRPr sz="1100" b="1">
                <a:solidFill>
                  <a:srgbClr val="F8FAFC"/>
                </a:solidFill>
                <a:latin typeface="Segoe UI"/>
              </a:defRPr>
            </a:pPr>
            <a:r>
              <a:t>Supervised Neural</a:t>
            </a:r>
            <a:br/>
            <a:r>
              <a:t>Summarizer</a:t>
            </a:r>
          </a:p>
          <a:p>
            <a:pPr>
              <a:spcAft>
                <a:spcPts val="600"/>
              </a:spcAft>
              <a:defRPr sz="850" b="1">
                <a:solidFill>
                  <a:srgbClr val="38BDF8"/>
                </a:solidFill>
                <a:latin typeface="Segoe UI"/>
              </a:defRPr>
            </a:pPr>
            <a:r>
              <a:t>Tech: Fine-Tuned BART</a:t>
            </a:r>
          </a:p>
          <a:p>
            <a:pPr>
              <a:defRPr sz="850">
                <a:solidFill>
                  <a:srgbClr val="E2E8F0"/>
                </a:solidFill>
                <a:latin typeface="Segoe UI"/>
              </a:defRPr>
            </a:pPr>
            <a:r>
              <a:t>• 30/70 Tail-Aware window</a:t>
            </a:r>
            <a:br/>
            <a:r>
              <a:t>• CUDA-accelerated inference</a:t>
            </a:r>
            <a:br/>
            <a:r>
              <a:t>• Beam search text generation</a:t>
            </a:r>
            <a:br/>
            <a:r>
              <a:t>• Headnote abstractive summary</a:t>
            </a:r>
          </a:p>
        </p:txBody>
      </p:sp>
      <p:sp>
        <p:nvSpPr>
          <p:cNvPr id="14" name="Rectangle 13"/>
          <p:cNvSpPr/>
          <p:nvPr/>
        </p:nvSpPr>
        <p:spPr>
          <a:xfrm>
            <a:off x="7351776" y="1828800"/>
            <a:ext cx="1810512"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36608" y="1737360"/>
            <a:ext cx="1993392" cy="2926080"/>
          </a:xfrm>
          <a:prstGeom prst="roundRect">
            <a:avLst/>
          </a:prstGeom>
          <a:solidFill>
            <a:srgbClr val="16213E"/>
          </a:solidFill>
          <a:ln w="228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spcAft>
                <a:spcPts val="200"/>
              </a:spcAft>
              <a:defRPr sz="850" b="1">
                <a:solidFill>
                  <a:srgbClr val="10B981"/>
                </a:solidFill>
                <a:latin typeface="Segoe UI"/>
              </a:defRPr>
            </a:pPr>
            <a:r>
              <a:t>STAGE 5</a:t>
            </a:r>
          </a:p>
          <a:p>
            <a:pPr>
              <a:spcAft>
                <a:spcPts val="200"/>
              </a:spcAft>
              <a:defRPr sz="1100" b="1">
                <a:solidFill>
                  <a:srgbClr val="F8FAFC"/>
                </a:solidFill>
                <a:latin typeface="Segoe UI"/>
              </a:defRPr>
            </a:pPr>
            <a:r>
              <a:t>Validation Auditor</a:t>
            </a:r>
            <a:br/>
            <a:r>
              <a:t>Agent</a:t>
            </a:r>
          </a:p>
          <a:p>
            <a:pPr>
              <a:spcAft>
                <a:spcPts val="600"/>
              </a:spcAft>
              <a:defRPr sz="850" b="1">
                <a:solidFill>
                  <a:srgbClr val="38BDF8"/>
                </a:solidFill>
                <a:latin typeface="Segoe UI"/>
              </a:defRPr>
            </a:pPr>
            <a:r>
              <a:t>Tech: Deterministic Auditor</a:t>
            </a:r>
          </a:p>
          <a:p>
            <a:pPr>
              <a:defRPr sz="850">
                <a:solidFill>
                  <a:srgbClr val="E2E8F0"/>
                </a:solidFill>
                <a:latin typeface="Segoe UI"/>
              </a:defRPr>
            </a:pPr>
            <a:r>
              <a:t>• Statutory regex check</a:t>
            </a:r>
            <a:br/>
            <a:r>
              <a:t>• Factual consistency score</a:t>
            </a:r>
            <a:br/>
            <a:r>
              <a:t>• Disposition match audit</a:t>
            </a:r>
            <a:br/>
            <a:r>
              <a:t>• Anti-inversion gatekeeper</a:t>
            </a:r>
          </a:p>
        </p:txBody>
      </p:sp>
      <p:sp>
        <p:nvSpPr>
          <p:cNvPr id="16" name="Rectangle 15"/>
          <p:cNvSpPr/>
          <p:nvPr/>
        </p:nvSpPr>
        <p:spPr>
          <a:xfrm>
            <a:off x="9528048" y="1828800"/>
            <a:ext cx="1810512"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0" y="2926080"/>
            <a:ext cx="182880" cy="457200"/>
          </a:xfrm>
          <a:prstGeom prst="rect">
            <a:avLst/>
          </a:prstGeom>
          <a:noFill/>
        </p:spPr>
        <p:txBody>
          <a:bodyPr wrap="none" lIns="0" rIns="0" tIns="0" bIns="0">
            <a:spAutoFit/>
          </a:bodyPr>
          <a:lstStyle/>
          <a:p>
            <a:pPr algn="ctr">
              <a:defRPr sz="1400" b="1">
                <a:solidFill>
                  <a:srgbClr val="38BDF8"/>
                </a:solidFill>
                <a:latin typeface="Segoe UI"/>
              </a:defRPr>
            </a:pPr>
            <a:r>
              <a:t>➔</a:t>
            </a:r>
          </a:p>
        </p:txBody>
      </p:sp>
      <p:sp>
        <p:nvSpPr>
          <p:cNvPr id="18" name="TextBox 17"/>
          <p:cNvSpPr txBox="1"/>
          <p:nvPr/>
        </p:nvSpPr>
        <p:spPr>
          <a:xfrm>
            <a:off x="4919472" y="2926080"/>
            <a:ext cx="182880" cy="457200"/>
          </a:xfrm>
          <a:prstGeom prst="rect">
            <a:avLst/>
          </a:prstGeom>
          <a:noFill/>
        </p:spPr>
        <p:txBody>
          <a:bodyPr wrap="none" lIns="0" rIns="0" tIns="0" bIns="0">
            <a:spAutoFit/>
          </a:bodyPr>
          <a:lstStyle/>
          <a:p>
            <a:pPr algn="ctr">
              <a:defRPr sz="1400" b="1">
                <a:solidFill>
                  <a:srgbClr val="38BDF8"/>
                </a:solidFill>
                <a:latin typeface="Segoe UI"/>
              </a:defRPr>
            </a:pPr>
            <a:r>
              <a:t>➔</a:t>
            </a:r>
          </a:p>
        </p:txBody>
      </p:sp>
      <p:sp>
        <p:nvSpPr>
          <p:cNvPr id="19" name="TextBox 18"/>
          <p:cNvSpPr txBox="1"/>
          <p:nvPr/>
        </p:nvSpPr>
        <p:spPr>
          <a:xfrm>
            <a:off x="7095744" y="2926080"/>
            <a:ext cx="182880" cy="457200"/>
          </a:xfrm>
          <a:prstGeom prst="rect">
            <a:avLst/>
          </a:prstGeom>
          <a:noFill/>
        </p:spPr>
        <p:txBody>
          <a:bodyPr wrap="none" lIns="0" rIns="0" tIns="0" bIns="0">
            <a:spAutoFit/>
          </a:bodyPr>
          <a:lstStyle/>
          <a:p>
            <a:pPr algn="ctr">
              <a:defRPr sz="1400" b="1">
                <a:solidFill>
                  <a:srgbClr val="38BDF8"/>
                </a:solidFill>
                <a:latin typeface="Segoe UI"/>
              </a:defRPr>
            </a:pPr>
            <a:r>
              <a:t>➔</a:t>
            </a:r>
          </a:p>
        </p:txBody>
      </p:sp>
      <p:sp>
        <p:nvSpPr>
          <p:cNvPr id="20" name="TextBox 19"/>
          <p:cNvSpPr txBox="1"/>
          <p:nvPr/>
        </p:nvSpPr>
        <p:spPr>
          <a:xfrm>
            <a:off x="9272016" y="2926080"/>
            <a:ext cx="182880" cy="457200"/>
          </a:xfrm>
          <a:prstGeom prst="rect">
            <a:avLst/>
          </a:prstGeom>
          <a:noFill/>
        </p:spPr>
        <p:txBody>
          <a:bodyPr wrap="none" lIns="0" rIns="0" tIns="0" bIns="0">
            <a:spAutoFit/>
          </a:bodyPr>
          <a:lstStyle/>
          <a:p>
            <a:pPr algn="ctr">
              <a:defRPr sz="1400" b="1">
                <a:solidFill>
                  <a:srgbClr val="38BDF8"/>
                </a:solidFill>
                <a:latin typeface="Segoe UI"/>
              </a:defRPr>
            </a:pPr>
            <a:r>
              <a:t>➔</a:t>
            </a:r>
          </a:p>
        </p:txBody>
      </p:sp>
      <p:sp>
        <p:nvSpPr>
          <p:cNvPr id="21" name="Rounded Rectangle 20"/>
          <p:cNvSpPr/>
          <p:nvPr/>
        </p:nvSpPr>
        <p:spPr>
          <a:xfrm>
            <a:off x="731520" y="4846320"/>
            <a:ext cx="10728655" cy="1280160"/>
          </a:xfrm>
          <a:prstGeom prst="roundRect">
            <a:avLst/>
          </a:prstGeom>
          <a:solidFill>
            <a:srgbClr val="122846"/>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spcAft>
                <a:spcPts val="400"/>
              </a:spcAft>
              <a:defRPr sz="1000" b="1">
                <a:solidFill>
                  <a:srgbClr val="38BDF8"/>
                </a:solidFill>
                <a:latin typeface="Segoe UI"/>
              </a:defRPr>
            </a:pPr>
            <a:r>
              <a:t>LANGGRAPH TYPED STATE MANAGEMENT &amp; IMMUTABLE AUDIT TRAIL</a:t>
            </a:r>
          </a:p>
          <a:p>
            <a:pPr>
              <a:spcAft>
                <a:spcPts val="300"/>
              </a:spcAft>
              <a:defRPr sz="950">
                <a:solidFill>
                  <a:srgbClr val="F8FAFC"/>
                </a:solidFill>
                <a:latin typeface="Segoe UI"/>
              </a:defRPr>
            </a:pPr>
            <a:r>
              <a:t>• LegalWorkflowState Schema: Fully typed state dictionary passing normalized document text, extracted JSON metadata, jurisprudential reasoning dicts, neural summary strings, validation scores, and execution errors.</a:t>
            </a:r>
          </a:p>
          <a:p>
            <a:pPr>
              <a:defRPr sz="950">
                <a:solidFill>
                  <a:srgbClr val="2DD4BF"/>
                </a:solidFill>
                <a:latin typeface="Segoe UI"/>
              </a:defRPr>
            </a:pPr>
            <a:r>
              <a:t>• Decoupled Resilience: Cloud LLM failures (HTTP 503) trigger up to 3 exponential backoff attempts (2s, 4s, 8s). If cloud access fails, local BART abstractive summary continues uninterrupted without crashing the pipeline.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188720"/>
          </a:xfrm>
          <a:prstGeom prst="rect">
            <a:avLst/>
          </a:prstGeom>
          <a:noFill/>
        </p:spPr>
        <p:txBody>
          <a:bodyPr wrap="square" lIns="0" tIns="0" rIns="0" bIns="0">
            <a:spAutoFit/>
          </a:bodyPr>
          <a:lstStyle/>
          <a:p>
            <a:pPr>
              <a:spcAft>
                <a:spcPts val="200"/>
              </a:spcAft>
              <a:defRPr sz="1000" b="1">
                <a:solidFill>
                  <a:srgbClr val="38BDF8"/>
                </a:solidFill>
                <a:latin typeface="Segoe UI"/>
              </a:defRPr>
            </a:pPr>
            <a:r>
              <a:t>ENGINEERING FOUNDATION  |  HIGH-PERFORMANCE TOOLCHAIN</a:t>
            </a:r>
          </a:p>
          <a:p>
            <a:pPr>
              <a:spcAft>
                <a:spcPts val="200"/>
              </a:spcAft>
              <a:defRPr sz="2200" b="1">
                <a:solidFill>
                  <a:srgbClr val="F8FAFC"/>
                </a:solidFill>
                <a:latin typeface="Segoe UI"/>
              </a:defRPr>
            </a:pPr>
            <a:r>
              <a:t>Technology Stack &amp; Environment Architecture</a:t>
            </a:r>
          </a:p>
          <a:p>
            <a:pPr>
              <a:defRPr sz="1100">
                <a:solidFill>
                  <a:srgbClr val="94A3B8"/>
                </a:solidFill>
                <a:latin typeface="Segoe UI"/>
              </a:defRPr>
            </a:pPr>
            <a:r>
              <a:t>Modern, type-safe, and GPU-accelerated technologies chosen for production reliability.</a:t>
            </a:r>
          </a:p>
        </p:txBody>
      </p:sp>
      <p:sp>
        <p:nvSpPr>
          <p:cNvPr id="5" name="TextBox 4"/>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latin typeface="Segoe UI"/>
              </a:defRPr>
            </a:pPr>
            <a:r>
              <a:t>Legal Document Summarization: A Zero-Shot Modular Agentic Workflow Approach</a:t>
            </a:r>
          </a:p>
        </p:txBody>
      </p:sp>
      <p:sp>
        <p:nvSpPr>
          <p:cNvPr id="6" name="TextBox 5"/>
          <p:cNvSpPr txBox="1"/>
          <p:nvPr/>
        </p:nvSpPr>
        <p:spPr>
          <a:xfrm>
            <a:off x="10515600" y="6400800"/>
            <a:ext cx="914400" cy="320040"/>
          </a:xfrm>
          <a:prstGeom prst="rect">
            <a:avLst/>
          </a:prstGeom>
          <a:noFill/>
        </p:spPr>
        <p:txBody>
          <a:bodyPr wrap="none" lIns="0" tIns="0" rIns="0" bIns="0">
            <a:spAutoFit/>
          </a:bodyPr>
          <a:lstStyle/>
          <a:p>
            <a:pPr algn="r">
              <a:defRPr sz="900" b="1">
                <a:solidFill>
                  <a:srgbClr val="2DD4BF"/>
                </a:solidFill>
                <a:latin typeface="Segoe UI"/>
              </a:defRPr>
            </a:pPr>
            <a:r>
              <a:t>05 / 12</a:t>
            </a:r>
          </a:p>
        </p:txBody>
      </p:sp>
      <p:sp>
        <p:nvSpPr>
          <p:cNvPr id="7" name="Rounded Rectangle 6"/>
          <p:cNvSpPr/>
          <p:nvPr/>
        </p:nvSpPr>
        <p:spPr>
          <a:xfrm>
            <a:off x="731520" y="1737360"/>
            <a:ext cx="2542032" cy="43891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br/>
          </a:p>
          <a:p>
            <a:pPr>
              <a:defRPr sz="1100" b="1">
                <a:solidFill>
                  <a:srgbClr val="F8FAFC"/>
                </a:solidFill>
                <a:latin typeface="Segoe UI"/>
              </a:defRPr>
            </a:pPr>
            <a:r>
              <a:t>LangGraph</a:t>
            </a:r>
          </a:p>
          <a:p>
            <a:pPr>
              <a:spcAft>
                <a:spcPts val="1000"/>
              </a:spcAft>
              <a:defRPr sz="900">
                <a:solidFill>
                  <a:srgbClr val="E2E8F0"/>
                </a:solidFill>
                <a:latin typeface="Segoe UI"/>
              </a:defRPr>
            </a:pPr>
            <a:r>
              <a:t>Stateful Directed Acyclic Graph (DAG) managing multi-agent state transitions.</a:t>
            </a:r>
          </a:p>
          <a:p>
            <a:pPr>
              <a:defRPr sz="1100" b="1">
                <a:solidFill>
                  <a:srgbClr val="F8FAFC"/>
                </a:solidFill>
                <a:latin typeface="Segoe UI"/>
              </a:defRPr>
            </a:pPr>
            <a:r>
              <a:t>Google GenAI SDK (v2.28.0)</a:t>
            </a:r>
          </a:p>
          <a:p>
            <a:pPr>
              <a:spcAft>
                <a:spcPts val="1000"/>
              </a:spcAft>
              <a:defRPr sz="900">
                <a:solidFill>
                  <a:srgbClr val="E2E8F0"/>
                </a:solidFill>
                <a:latin typeface="Segoe UI"/>
              </a:defRPr>
            </a:pPr>
            <a:r>
              <a:t>Official modern SDK accessing gemini-2.5-flash for high-speed legal reasoning.</a:t>
            </a:r>
          </a:p>
          <a:p>
            <a:pPr>
              <a:defRPr sz="1100" b="1">
                <a:solidFill>
                  <a:srgbClr val="F8FAFC"/>
                </a:solidFill>
                <a:latin typeface="Segoe UI"/>
              </a:defRPr>
            </a:pPr>
            <a:r>
              <a:t>Tenacity Backoff</a:t>
            </a:r>
          </a:p>
          <a:p>
            <a:pPr>
              <a:spcAft>
                <a:spcPts val="1000"/>
              </a:spcAft>
              <a:defRPr sz="900">
                <a:solidFill>
                  <a:srgbClr val="E2E8F0"/>
                </a:solidFill>
                <a:latin typeface="Segoe UI"/>
              </a:defRPr>
            </a:pPr>
            <a:r>
              <a:t>Exponential retry with random jitter (2s, 4s, 8s) for robust HTTP 503 fault tolerance.</a:t>
            </a:r>
          </a:p>
          <a:p>
            <a:pPr>
              <a:defRPr sz="1100" b="1">
                <a:solidFill>
                  <a:srgbClr val="F8FAFC"/>
                </a:solidFill>
                <a:latin typeface="Segoe UI"/>
              </a:defRPr>
            </a:pPr>
            <a:r>
              <a:t>Pydantic &amp; Typing</a:t>
            </a:r>
          </a:p>
          <a:p>
            <a:pPr>
              <a:spcAft>
                <a:spcPts val="1000"/>
              </a:spcAft>
              <a:defRPr sz="900">
                <a:solidFill>
                  <a:srgbClr val="E2E8F0"/>
                </a:solidFill>
                <a:latin typeface="Segoe UI"/>
              </a:defRPr>
            </a:pPr>
            <a:r>
              <a:t>Enforces strict JSON schema contracts across all agent interfaces.</a:t>
            </a:r>
          </a:p>
        </p:txBody>
      </p:sp>
      <p:sp>
        <p:nvSpPr>
          <p:cNvPr id="8" name="Rounded Rectangle 7"/>
          <p:cNvSpPr/>
          <p:nvPr/>
        </p:nvSpPr>
        <p:spPr>
          <a:xfrm>
            <a:off x="868680" y="1920240"/>
            <a:ext cx="2267712" cy="2743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AGENTIC ORCHESTRATION</a:t>
            </a:r>
          </a:p>
        </p:txBody>
      </p:sp>
      <p:sp>
        <p:nvSpPr>
          <p:cNvPr id="9" name="Rounded Rectangle 8"/>
          <p:cNvSpPr/>
          <p:nvPr/>
        </p:nvSpPr>
        <p:spPr>
          <a:xfrm>
            <a:off x="3456432" y="1737360"/>
            <a:ext cx="2542032" cy="43891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br/>
          </a:p>
          <a:p>
            <a:pPr>
              <a:defRPr sz="1100" b="1">
                <a:solidFill>
                  <a:srgbClr val="F8FAFC"/>
                </a:solidFill>
                <a:latin typeface="Segoe UI"/>
              </a:defRPr>
            </a:pPr>
            <a:r>
              <a:t>facebook/bart-base</a:t>
            </a:r>
          </a:p>
          <a:p>
            <a:pPr>
              <a:spcAft>
                <a:spcPts val="1000"/>
              </a:spcAft>
              <a:defRPr sz="900">
                <a:solidFill>
                  <a:srgbClr val="E2E8F0"/>
                </a:solidFill>
                <a:latin typeface="Segoe UI"/>
              </a:defRPr>
            </a:pPr>
            <a:r>
              <a:t>139M-parameter bidirectional encoder &amp; autoregressive decoder sequence model.</a:t>
            </a:r>
          </a:p>
          <a:p>
            <a:pPr>
              <a:defRPr sz="1100" b="1">
                <a:solidFill>
                  <a:srgbClr val="F8FAFC"/>
                </a:solidFill>
                <a:latin typeface="Segoe UI"/>
              </a:defRPr>
            </a:pPr>
            <a:r>
              <a:t>PyTorch 2.14.1+cu126</a:t>
            </a:r>
          </a:p>
          <a:p>
            <a:pPr>
              <a:spcAft>
                <a:spcPts val="1000"/>
              </a:spcAft>
              <a:defRPr sz="900">
                <a:solidFill>
                  <a:srgbClr val="E2E8F0"/>
                </a:solidFill>
                <a:latin typeface="Segoe UI"/>
              </a:defRPr>
            </a:pPr>
            <a:r>
              <a:t>Optimized CUDA 12.6 runtime tensor calculations on local RTX 4060 GPU.</a:t>
            </a:r>
          </a:p>
          <a:p>
            <a:pPr>
              <a:defRPr sz="1100" b="1">
                <a:solidFill>
                  <a:srgbClr val="F8FAFC"/>
                </a:solidFill>
                <a:latin typeface="Segoe UI"/>
              </a:defRPr>
            </a:pPr>
            <a:r>
              <a:t>Hugging Face Transformers</a:t>
            </a:r>
          </a:p>
          <a:p>
            <a:pPr>
              <a:spcAft>
                <a:spcPts val="1000"/>
              </a:spcAft>
              <a:defRPr sz="900">
                <a:solidFill>
                  <a:srgbClr val="E2E8F0"/>
                </a:solidFill>
                <a:latin typeface="Segoe UI"/>
              </a:defRPr>
            </a:pPr>
            <a:r>
              <a:t>Pipeline integration for sequence-to-sequence beam search decoding.</a:t>
            </a:r>
          </a:p>
          <a:p>
            <a:pPr>
              <a:defRPr sz="1100" b="1">
                <a:solidFill>
                  <a:srgbClr val="F8FAFC"/>
                </a:solidFill>
                <a:latin typeface="Segoe UI"/>
              </a:defRPr>
            </a:pPr>
            <a:r>
              <a:t>FP16 Mixed Precision</a:t>
            </a:r>
          </a:p>
          <a:p>
            <a:pPr>
              <a:spcAft>
                <a:spcPts val="1000"/>
              </a:spcAft>
              <a:defRPr sz="900">
                <a:solidFill>
                  <a:srgbClr val="E2E8F0"/>
                </a:solidFill>
                <a:latin typeface="Segoe UI"/>
              </a:defRPr>
            </a:pPr>
            <a:r>
              <a:t>Halves memory bandwidth and accelerates inference throughput.</a:t>
            </a:r>
          </a:p>
        </p:txBody>
      </p:sp>
      <p:sp>
        <p:nvSpPr>
          <p:cNvPr id="10" name="Rounded Rectangle 9"/>
          <p:cNvSpPr/>
          <p:nvPr/>
        </p:nvSpPr>
        <p:spPr>
          <a:xfrm>
            <a:off x="3593592" y="1920240"/>
            <a:ext cx="2267712" cy="274320"/>
          </a:xfrm>
          <a:prstGeom prst="round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DEEP LEARNING &amp; NLP</a:t>
            </a:r>
          </a:p>
        </p:txBody>
      </p:sp>
      <p:sp>
        <p:nvSpPr>
          <p:cNvPr id="11" name="Rounded Rectangle 10"/>
          <p:cNvSpPr/>
          <p:nvPr/>
        </p:nvSpPr>
        <p:spPr>
          <a:xfrm>
            <a:off x="6181344" y="1737360"/>
            <a:ext cx="2542032" cy="43891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br/>
          </a:p>
          <a:p>
            <a:pPr>
              <a:defRPr sz="1100" b="1">
                <a:solidFill>
                  <a:srgbClr val="F8FAFC"/>
                </a:solidFill>
                <a:latin typeface="Segoe UI"/>
              </a:defRPr>
            </a:pPr>
            <a:r>
              <a:t>Streamlit Reactive UI</a:t>
            </a:r>
          </a:p>
          <a:p>
            <a:pPr>
              <a:spcAft>
                <a:spcPts val="1000"/>
              </a:spcAft>
              <a:defRPr sz="900">
                <a:solidFill>
                  <a:srgbClr val="E2E8F0"/>
                </a:solidFill>
                <a:latin typeface="Segoe UI"/>
              </a:defRPr>
            </a:pPr>
            <a:r>
              <a:t>Interactive dark-mode workbench with multi-tab legal workspace.</a:t>
            </a:r>
          </a:p>
          <a:p>
            <a:pPr>
              <a:defRPr sz="1100" b="1">
                <a:solidFill>
                  <a:srgbClr val="F8FAFC"/>
                </a:solidFill>
                <a:latin typeface="Segoe UI"/>
              </a:defRPr>
            </a:pPr>
            <a:r>
              <a:t>PyPDF &amp; Regex</a:t>
            </a:r>
          </a:p>
          <a:p>
            <a:pPr>
              <a:spcAft>
                <a:spcPts val="1000"/>
              </a:spcAft>
              <a:defRPr sz="900">
                <a:solidFill>
                  <a:srgbClr val="E2E8F0"/>
                </a:solidFill>
                <a:latin typeface="Segoe UI"/>
              </a:defRPr>
            </a:pPr>
            <a:r>
              <a:t>Fast, stream-based extraction and normalization of complex PDF legal filings.</a:t>
            </a:r>
          </a:p>
          <a:p>
            <a:pPr>
              <a:defRPr sz="1100" b="1">
                <a:solidFill>
                  <a:srgbClr val="F8FAFC"/>
                </a:solidFill>
                <a:latin typeface="Segoe UI"/>
              </a:defRPr>
            </a:pPr>
            <a:r>
              <a:t>Multi-Format Exporter</a:t>
            </a:r>
          </a:p>
          <a:p>
            <a:pPr>
              <a:spcAft>
                <a:spcPts val="1000"/>
              </a:spcAft>
              <a:defRPr sz="900">
                <a:solidFill>
                  <a:srgbClr val="E2E8F0"/>
                </a:solidFill>
                <a:latin typeface="Segoe UI"/>
              </a:defRPr>
            </a:pPr>
            <a:r>
              <a:t>Outputs structured legal briefs as TXT, Markdown reports, and JSON.</a:t>
            </a:r>
          </a:p>
          <a:p>
            <a:pPr>
              <a:defRPr sz="1100" b="1">
                <a:solidFill>
                  <a:srgbClr val="F8FAFC"/>
                </a:solidFill>
                <a:latin typeface="Segoe UI"/>
              </a:defRPr>
            </a:pPr>
            <a:r>
              <a:t>Immutable Audit Logger</a:t>
            </a:r>
          </a:p>
          <a:p>
            <a:pPr>
              <a:spcAft>
                <a:spcPts val="1000"/>
              </a:spcAft>
              <a:defRPr sz="900">
                <a:solidFill>
                  <a:srgbClr val="E2E8F0"/>
                </a:solidFill>
                <a:latin typeface="Segoe UI"/>
              </a:defRPr>
            </a:pPr>
            <a:r>
              <a:t>Persists full execution traces and confidence metrics to disk.</a:t>
            </a:r>
          </a:p>
        </p:txBody>
      </p:sp>
      <p:sp>
        <p:nvSpPr>
          <p:cNvPr id="12" name="Rounded Rectangle 11"/>
          <p:cNvSpPr/>
          <p:nvPr/>
        </p:nvSpPr>
        <p:spPr>
          <a:xfrm>
            <a:off x="6318504" y="1920240"/>
            <a:ext cx="2267712" cy="27432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SERVING &amp; INTERFACE</a:t>
            </a:r>
          </a:p>
        </p:txBody>
      </p:sp>
      <p:sp>
        <p:nvSpPr>
          <p:cNvPr id="13" name="Rounded Rectangle 12"/>
          <p:cNvSpPr/>
          <p:nvPr/>
        </p:nvSpPr>
        <p:spPr>
          <a:xfrm>
            <a:off x="8906256" y="1737360"/>
            <a:ext cx="2542032" cy="43891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11480"/>
          <a:lstStyle/>
          <a:p>
            <a:pPr algn="ctr"/>
            <a:br/>
          </a:p>
          <a:p>
            <a:pPr>
              <a:defRPr sz="1100" b="1">
                <a:solidFill>
                  <a:srgbClr val="F8FAFC"/>
                </a:solidFill>
                <a:latin typeface="Segoe UI"/>
              </a:defRPr>
            </a:pPr>
            <a:r>
              <a:t>Pytest Test Suite</a:t>
            </a:r>
          </a:p>
          <a:p>
            <a:pPr>
              <a:spcAft>
                <a:spcPts val="1000"/>
              </a:spcAft>
              <a:defRPr sz="900">
                <a:solidFill>
                  <a:srgbClr val="E2E8F0"/>
                </a:solidFill>
                <a:latin typeface="Segoe UI"/>
              </a:defRPr>
            </a:pPr>
            <a:r>
              <a:t>60 / 60 automated unit and integration tests passing (100% pass rate).</a:t>
            </a:r>
          </a:p>
          <a:p>
            <a:pPr>
              <a:defRPr sz="1100" b="1">
                <a:solidFill>
                  <a:srgbClr val="F8FAFC"/>
                </a:solidFill>
                <a:latin typeface="Segoe UI"/>
              </a:defRPr>
            </a:pPr>
            <a:r>
              <a:t>Official ROUGE Scorer</a:t>
            </a:r>
          </a:p>
          <a:p>
            <a:pPr>
              <a:spcAft>
                <a:spcPts val="1000"/>
              </a:spcAft>
              <a:defRPr sz="900">
                <a:solidFill>
                  <a:srgbClr val="E2E8F0"/>
                </a:solidFill>
                <a:latin typeface="Segoe UI"/>
              </a:defRPr>
            </a:pPr>
            <a:r>
              <a:t>Google official rouge_scorer computing ROUGE-1, ROUGE-2, and ROUGE-L.</a:t>
            </a:r>
          </a:p>
          <a:p>
            <a:pPr>
              <a:defRPr sz="1100" b="1">
                <a:solidFill>
                  <a:srgbClr val="F8FAFC"/>
                </a:solidFill>
                <a:latin typeface="Segoe UI"/>
              </a:defRPr>
            </a:pPr>
            <a:r>
              <a:t>CivilSum (SIGIR 2024)</a:t>
            </a:r>
          </a:p>
          <a:p>
            <a:pPr>
              <a:spcAft>
                <a:spcPts val="1000"/>
              </a:spcAft>
              <a:defRPr sz="900">
                <a:solidFill>
                  <a:srgbClr val="E2E8F0"/>
                </a:solidFill>
                <a:latin typeface="Segoe UI"/>
              </a:defRPr>
            </a:pPr>
            <a:r>
              <a:t>Benchmark corpus of 23,350 Indian Supreme Court and High Court cases.</a:t>
            </a:r>
          </a:p>
          <a:p>
            <a:pPr>
              <a:defRPr sz="1100" b="1">
                <a:solidFill>
                  <a:srgbClr val="F8FAFC"/>
                </a:solidFill>
                <a:latin typeface="Segoe UI"/>
              </a:defRPr>
            </a:pPr>
            <a:r>
              <a:t>Hardware Acceleration</a:t>
            </a:r>
          </a:p>
          <a:p>
            <a:pPr>
              <a:spcAft>
                <a:spcPts val="1000"/>
              </a:spcAft>
              <a:defRPr sz="900">
                <a:solidFill>
                  <a:srgbClr val="E2E8F0"/>
                </a:solidFill>
                <a:latin typeface="Segoe UI"/>
              </a:defRPr>
            </a:pPr>
            <a:r>
              <a:t>Local NVIDIA GeForce RTX 4060 Laptop GPU (8GB VRAM).</a:t>
            </a:r>
          </a:p>
        </p:txBody>
      </p:sp>
      <p:sp>
        <p:nvSpPr>
          <p:cNvPr id="14" name="Rounded Rectangle 13"/>
          <p:cNvSpPr/>
          <p:nvPr/>
        </p:nvSpPr>
        <p:spPr>
          <a:xfrm>
            <a:off x="9043416" y="1920240"/>
            <a:ext cx="2267712" cy="2743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BENCHMARK &amp; QUALITY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188720"/>
          </a:xfrm>
          <a:prstGeom prst="rect">
            <a:avLst/>
          </a:prstGeom>
          <a:noFill/>
        </p:spPr>
        <p:txBody>
          <a:bodyPr wrap="square" lIns="0" tIns="0" rIns="0" bIns="0">
            <a:spAutoFit/>
          </a:bodyPr>
          <a:lstStyle/>
          <a:p>
            <a:pPr>
              <a:spcAft>
                <a:spcPts val="200"/>
              </a:spcAft>
              <a:defRPr sz="1000" b="1">
                <a:solidFill>
                  <a:srgbClr val="38BDF8"/>
                </a:solidFill>
                <a:latin typeface="Segoe UI"/>
              </a:defRPr>
            </a:pPr>
            <a:r>
              <a:t>DATASET PROVENANCE  |  BENCHMARK FOUNDATION</a:t>
            </a:r>
          </a:p>
          <a:p>
            <a:pPr>
              <a:spcAft>
                <a:spcPts val="200"/>
              </a:spcAft>
              <a:defRPr sz="2200" b="1">
                <a:solidFill>
                  <a:srgbClr val="F8FAFC"/>
                </a:solidFill>
                <a:latin typeface="Segoe UI"/>
              </a:defRPr>
            </a:pPr>
            <a:r>
              <a:t>CivilSum Dataset &amp; Tail-Aware Preprocessing</a:t>
            </a:r>
          </a:p>
          <a:p>
            <a:pPr>
              <a:defRPr sz="1100">
                <a:solidFill>
                  <a:srgbClr val="94A3B8"/>
                </a:solidFill>
                <a:latin typeface="Segoe UI"/>
              </a:defRPr>
            </a:pPr>
            <a:r>
              <a:t>Grounding the neural summarizer in 23,350 peer-reviewed Indian court judgments (SIGIR '24).</a:t>
            </a:r>
          </a:p>
        </p:txBody>
      </p:sp>
      <p:sp>
        <p:nvSpPr>
          <p:cNvPr id="5" name="TextBox 4"/>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latin typeface="Segoe UI"/>
              </a:defRPr>
            </a:pPr>
            <a:r>
              <a:t>Legal Document Summarization: A Zero-Shot Modular Agentic Workflow Approach</a:t>
            </a:r>
          </a:p>
        </p:txBody>
      </p:sp>
      <p:sp>
        <p:nvSpPr>
          <p:cNvPr id="6" name="TextBox 5"/>
          <p:cNvSpPr txBox="1"/>
          <p:nvPr/>
        </p:nvSpPr>
        <p:spPr>
          <a:xfrm>
            <a:off x="10515600" y="6400800"/>
            <a:ext cx="914400" cy="320040"/>
          </a:xfrm>
          <a:prstGeom prst="rect">
            <a:avLst/>
          </a:prstGeom>
          <a:noFill/>
        </p:spPr>
        <p:txBody>
          <a:bodyPr wrap="none" lIns="0" tIns="0" rIns="0" bIns="0">
            <a:spAutoFit/>
          </a:bodyPr>
          <a:lstStyle/>
          <a:p>
            <a:pPr algn="r">
              <a:defRPr sz="900" b="1">
                <a:solidFill>
                  <a:srgbClr val="2DD4BF"/>
                </a:solidFill>
                <a:latin typeface="Segoe UI"/>
              </a:defRPr>
            </a:pPr>
            <a:r>
              <a:t>06 / 12</a:t>
            </a:r>
          </a:p>
        </p:txBody>
      </p:sp>
      <p:sp>
        <p:nvSpPr>
          <p:cNvPr id="7" name="Rounded Rectangle 6"/>
          <p:cNvSpPr/>
          <p:nvPr/>
        </p:nvSpPr>
        <p:spPr>
          <a:xfrm>
            <a:off x="731520" y="1737360"/>
            <a:ext cx="5184648" cy="43891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000"/>
              </a:spcAft>
              <a:defRPr sz="1600" b="1">
                <a:solidFill>
                  <a:srgbClr val="F8FAFC"/>
                </a:solidFill>
                <a:latin typeface="Segoe UI"/>
              </a:defRPr>
            </a:pPr>
            <a:br/>
            <a:br/>
            <a:r>
              <a:t>CivilSum Benchmark (SIGIR 2024)</a:t>
            </a:r>
          </a:p>
          <a:p>
            <a:pPr>
              <a:spcAft>
                <a:spcPts val="600"/>
              </a:spcAft>
              <a:defRPr sz="1000" b="1">
                <a:solidFill>
                  <a:srgbClr val="38BDF8"/>
                </a:solidFill>
                <a:latin typeface="Segoe UI"/>
              </a:defRPr>
            </a:pPr>
            <a:r>
              <a:t>•  Publication: </a:t>
            </a:r>
            <a:r>
              <a:rPr b="0">
                <a:solidFill>
                  <a:srgbClr val="E2E8F0"/>
                </a:solidFill>
              </a:rPr>
              <a:t>Presented at SIGIR 2024 by Ramanujan et al. as the benchmark for abstractive court summarization.</a:t>
            </a:r>
          </a:p>
          <a:p>
            <a:pPr>
              <a:spcAft>
                <a:spcPts val="600"/>
              </a:spcAft>
              <a:defRPr sz="1000" b="1">
                <a:solidFill>
                  <a:srgbClr val="38BDF8"/>
                </a:solidFill>
                <a:latin typeface="Segoe UI"/>
              </a:defRPr>
            </a:pPr>
            <a:r>
              <a:t>•  Licensing: </a:t>
            </a:r>
            <a:r>
              <a:rPr b="0">
                <a:solidFill>
                  <a:srgbClr val="E2E8F0"/>
                </a:solidFill>
              </a:rPr>
              <a:t>Creative Commons Attribution-NonCommercial-ShareAlike 4.0 International (CC BY-NC-SA 4.0).</a:t>
            </a:r>
          </a:p>
          <a:p>
            <a:pPr>
              <a:spcAft>
                <a:spcPts val="600"/>
              </a:spcAft>
              <a:defRPr sz="1000" b="1">
                <a:solidFill>
                  <a:srgbClr val="38BDF8"/>
                </a:solidFill>
                <a:latin typeface="Segoe UI"/>
              </a:defRPr>
            </a:pPr>
            <a:r>
              <a:t>•  Jurisdiction: </a:t>
            </a:r>
            <a:r>
              <a:rPr b="0">
                <a:solidFill>
                  <a:srgbClr val="E2E8F0"/>
                </a:solidFill>
              </a:rPr>
              <a:t>Appellate civil judgments from the Supreme Court of India and Indian High Courts.</a:t>
            </a:r>
          </a:p>
          <a:p>
            <a:pPr>
              <a:spcAft>
                <a:spcPts val="600"/>
              </a:spcAft>
              <a:defRPr sz="1000" b="1">
                <a:solidFill>
                  <a:srgbClr val="38BDF8"/>
                </a:solidFill>
                <a:latin typeface="Segoe UI"/>
              </a:defRPr>
            </a:pPr>
            <a:r>
              <a:t>•  Training Set: </a:t>
            </a:r>
            <a:r>
              <a:rPr b="0">
                <a:solidFill>
                  <a:srgbClr val="E2E8F0"/>
                </a:solidFill>
              </a:rPr>
              <a:t>21,015 court cases (278 MB) with full judgment text and expert-written summaries.</a:t>
            </a:r>
          </a:p>
          <a:p>
            <a:pPr>
              <a:spcAft>
                <a:spcPts val="600"/>
              </a:spcAft>
              <a:defRPr sz="1000" b="1">
                <a:solidFill>
                  <a:srgbClr val="38BDF8"/>
                </a:solidFill>
                <a:latin typeface="Segoe UI"/>
              </a:defRPr>
            </a:pPr>
            <a:r>
              <a:t>•  Validation Set: </a:t>
            </a:r>
            <a:r>
              <a:rPr b="0">
                <a:solidFill>
                  <a:srgbClr val="E2E8F0"/>
                </a:solidFill>
              </a:rPr>
              <a:t>1,168 court cases (15.5 MB) used for epoch-level checkpoint validation.</a:t>
            </a:r>
          </a:p>
          <a:p>
            <a:pPr>
              <a:spcAft>
                <a:spcPts val="600"/>
              </a:spcAft>
              <a:defRPr sz="1000" b="1">
                <a:solidFill>
                  <a:srgbClr val="38BDF8"/>
                </a:solidFill>
                <a:latin typeface="Segoe UI"/>
              </a:defRPr>
            </a:pPr>
            <a:r>
              <a:t>•  Held-out Test Set: </a:t>
            </a:r>
            <a:r>
              <a:rPr b="0">
                <a:solidFill>
                  <a:srgbClr val="E2E8F0"/>
                </a:solidFill>
              </a:rPr>
              <a:t>1,167 court cases (14.9 MB) reserved exclusively for unbiased final evaluation.</a:t>
            </a:r>
          </a:p>
        </p:txBody>
      </p:sp>
      <p:sp>
        <p:nvSpPr>
          <p:cNvPr id="8" name="Rounded Rectangle 7"/>
          <p:cNvSpPr/>
          <p:nvPr/>
        </p:nvSpPr>
        <p:spPr>
          <a:xfrm>
            <a:off x="1005840" y="1965960"/>
            <a:ext cx="2377440" cy="274320"/>
          </a:xfrm>
          <a:prstGeom prst="round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DATASET PROVENANCE</a:t>
            </a:r>
          </a:p>
        </p:txBody>
      </p:sp>
      <p:sp>
        <p:nvSpPr>
          <p:cNvPr id="9" name="Rounded Rectangle 8"/>
          <p:cNvSpPr/>
          <p:nvPr/>
        </p:nvSpPr>
        <p:spPr>
          <a:xfrm>
            <a:off x="6272784" y="1737360"/>
            <a:ext cx="5184648" cy="4389120"/>
          </a:xfrm>
          <a:prstGeom prst="roundRect">
            <a:avLst/>
          </a:prstGeom>
          <a:solidFill>
            <a:srgbClr val="122846"/>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000"/>
              </a:spcAft>
              <a:defRPr sz="1600" b="1">
                <a:solidFill>
                  <a:srgbClr val="38BDF8"/>
                </a:solidFill>
                <a:latin typeface="Segoe UI"/>
              </a:defRPr>
            </a:pPr>
            <a:br/>
            <a:br/>
            <a:r>
              <a:t>800-Word Tail-Aware Trimming Algorithm</a:t>
            </a:r>
          </a:p>
          <a:p>
            <a:pPr>
              <a:spcAft>
                <a:spcPts val="800"/>
              </a:spcAft>
              <a:defRPr sz="1000" b="1">
                <a:solidFill>
                  <a:srgbClr val="2DD4BF"/>
                </a:solidFill>
                <a:latin typeface="Segoe UI"/>
              </a:defRPr>
            </a:pPr>
            <a:r>
              <a:t>✔  The Token Budget Constraint: </a:t>
            </a:r>
            <a:r>
              <a:rPr b="0">
                <a:solidFill>
                  <a:srgbClr val="E2E8F0"/>
                </a:solidFill>
              </a:rPr>
              <a:t>BART-base is architecturally bounded by an input attention context of 1,024 tokens (approx. 800 English words). Judgments easily reach 10,000+ words.</a:t>
            </a:r>
          </a:p>
          <a:p>
            <a:pPr>
              <a:spcAft>
                <a:spcPts val="800"/>
              </a:spcAft>
              <a:defRPr sz="1000" b="1">
                <a:solidFill>
                  <a:srgbClr val="2DD4BF"/>
                </a:solidFill>
                <a:latin typeface="Segoe UI"/>
              </a:defRPr>
            </a:pPr>
            <a:r>
              <a:t>✔  30% Lead Window (240 Words): </a:t>
            </a:r>
            <a:r>
              <a:rPr b="0">
                <a:solidFill>
                  <a:srgbClr val="E2E8F0"/>
                </a:solidFill>
              </a:rPr>
              <a:t>Captures the formal title, presiding bench, litigant names, lower court appeal history, and the primary statutory questions at issue.</a:t>
            </a:r>
          </a:p>
          <a:p>
            <a:pPr>
              <a:spcAft>
                <a:spcPts val="800"/>
              </a:spcAft>
              <a:defRPr sz="1000" b="1">
                <a:solidFill>
                  <a:srgbClr val="2DD4BF"/>
                </a:solidFill>
                <a:latin typeface="Segoe UI"/>
              </a:defRPr>
            </a:pPr>
            <a:r>
              <a:t>✔  70% Tail Window (560 Words): </a:t>
            </a:r>
            <a:r>
              <a:rPr b="0">
                <a:solidFill>
                  <a:srgbClr val="E2E8F0"/>
                </a:solidFill>
              </a:rPr>
              <a:t>Captures the decisive legal arguments, judicial interpretation of statutes, ratio decidendi, and the final operative decree ('Appeal Dismissed').</a:t>
            </a:r>
          </a:p>
          <a:p>
            <a:pPr>
              <a:spcAft>
                <a:spcPts val="800"/>
              </a:spcAft>
              <a:defRPr sz="1000" b="1">
                <a:solidFill>
                  <a:srgbClr val="2DD4BF"/>
                </a:solidFill>
                <a:latin typeface="Segoe UI"/>
              </a:defRPr>
            </a:pPr>
            <a:r>
              <a:t>✔  Procedural Joining Tag: </a:t>
            </a:r>
            <a:r>
              <a:rPr b="0">
                <a:solidFill>
                  <a:srgbClr val="E2E8F0"/>
                </a:solidFill>
              </a:rPr>
              <a:t>Lead and Tail segments are joined with an explicit '[...]' omission tag, maintaining grammatical continuity without confusing the transformer attention heads.</a:t>
            </a:r>
          </a:p>
        </p:txBody>
      </p:sp>
      <p:sp>
        <p:nvSpPr>
          <p:cNvPr id="10" name="Rounded Rectangle 9"/>
          <p:cNvSpPr/>
          <p:nvPr/>
        </p:nvSpPr>
        <p:spPr>
          <a:xfrm>
            <a:off x="6547104" y="1965960"/>
            <a:ext cx="2560320" cy="2743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PREPROCESSING INNOVATION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188720"/>
          </a:xfrm>
          <a:prstGeom prst="rect">
            <a:avLst/>
          </a:prstGeom>
          <a:noFill/>
        </p:spPr>
        <p:txBody>
          <a:bodyPr wrap="square" lIns="0" tIns="0" rIns="0" bIns="0">
            <a:spAutoFit/>
          </a:bodyPr>
          <a:lstStyle/>
          <a:p>
            <a:pPr>
              <a:spcAft>
                <a:spcPts val="200"/>
              </a:spcAft>
              <a:defRPr sz="1000" b="1">
                <a:solidFill>
                  <a:srgbClr val="38BDF8"/>
                </a:solidFill>
                <a:latin typeface="Segoe UI"/>
              </a:defRPr>
            </a:pPr>
            <a:r>
              <a:t>SUPERVISED TRAINING  |  GPU ACCELERATION</a:t>
            </a:r>
          </a:p>
          <a:p>
            <a:pPr>
              <a:spcAft>
                <a:spcPts val="200"/>
              </a:spcAft>
              <a:defRPr sz="2200" b="1">
                <a:solidFill>
                  <a:srgbClr val="F8FAFC"/>
                </a:solidFill>
                <a:latin typeface="Segoe UI"/>
              </a:defRPr>
            </a:pPr>
            <a:r>
              <a:t>Supervised Fine-Tuning of facebook/bart-base</a:t>
            </a:r>
          </a:p>
          <a:p>
            <a:pPr>
              <a:defRPr sz="1100">
                <a:solidFill>
                  <a:srgbClr val="94A3B8"/>
                </a:solidFill>
                <a:latin typeface="Segoe UI"/>
              </a:defRPr>
            </a:pPr>
            <a:r>
              <a:t>Domain adaptation of sequence-to-sequence transformer weights on NVIDIA RTX 4060.</a:t>
            </a:r>
          </a:p>
        </p:txBody>
      </p:sp>
      <p:sp>
        <p:nvSpPr>
          <p:cNvPr id="5" name="TextBox 4"/>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latin typeface="Segoe UI"/>
              </a:defRPr>
            </a:pPr>
            <a:r>
              <a:t>Legal Document Summarization: A Zero-Shot Modular Agentic Workflow Approach</a:t>
            </a:r>
          </a:p>
        </p:txBody>
      </p:sp>
      <p:sp>
        <p:nvSpPr>
          <p:cNvPr id="6" name="TextBox 5"/>
          <p:cNvSpPr txBox="1"/>
          <p:nvPr/>
        </p:nvSpPr>
        <p:spPr>
          <a:xfrm>
            <a:off x="10515600" y="6400800"/>
            <a:ext cx="914400" cy="320040"/>
          </a:xfrm>
          <a:prstGeom prst="rect">
            <a:avLst/>
          </a:prstGeom>
          <a:noFill/>
        </p:spPr>
        <p:txBody>
          <a:bodyPr wrap="none" lIns="0" tIns="0" rIns="0" bIns="0">
            <a:spAutoFit/>
          </a:bodyPr>
          <a:lstStyle/>
          <a:p>
            <a:pPr algn="r">
              <a:defRPr sz="900" b="1">
                <a:solidFill>
                  <a:srgbClr val="2DD4BF"/>
                </a:solidFill>
                <a:latin typeface="Segoe UI"/>
              </a:defRPr>
            </a:pPr>
            <a:r>
              <a:t>07 / 12</a:t>
            </a:r>
          </a:p>
        </p:txBody>
      </p:sp>
      <p:sp>
        <p:nvSpPr>
          <p:cNvPr id="7" name="Rounded Rectangle 6"/>
          <p:cNvSpPr/>
          <p:nvPr/>
        </p:nvSpPr>
        <p:spPr>
          <a:xfrm>
            <a:off x="731520" y="1737360"/>
            <a:ext cx="2542032" cy="11887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2800" b="1">
                <a:solidFill>
                  <a:srgbClr val="38BDF8"/>
                </a:solidFill>
                <a:latin typeface="Segoe UI"/>
              </a:defRPr>
            </a:pPr>
            <a:r>
              <a:t>139M</a:t>
            </a:r>
          </a:p>
          <a:p>
            <a:pPr algn="ctr">
              <a:defRPr sz="1100" b="1">
                <a:solidFill>
                  <a:srgbClr val="F8FAFC"/>
                </a:solidFill>
                <a:latin typeface="Segoe UI"/>
              </a:defRPr>
            </a:pPr>
            <a:r>
              <a:t>Model Parameters</a:t>
            </a:r>
          </a:p>
          <a:p>
            <a:pPr algn="ctr">
              <a:defRPr sz="900">
                <a:solidFill>
                  <a:srgbClr val="94A3B8"/>
                </a:solidFill>
                <a:latin typeface="Segoe UI"/>
              </a:defRPr>
            </a:pPr>
            <a:r>
              <a:t>facebook/bart-base architecture</a:t>
            </a:r>
          </a:p>
        </p:txBody>
      </p:sp>
      <p:sp>
        <p:nvSpPr>
          <p:cNvPr id="8" name="Rectangle 7"/>
          <p:cNvSpPr/>
          <p:nvPr/>
        </p:nvSpPr>
        <p:spPr>
          <a:xfrm>
            <a:off x="868680" y="1874520"/>
            <a:ext cx="2267712"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56432" y="1737360"/>
            <a:ext cx="2542032" cy="11887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2800" b="1">
                <a:solidFill>
                  <a:srgbClr val="2DD4BF"/>
                </a:solidFill>
                <a:latin typeface="Segoe UI"/>
              </a:defRPr>
            </a:pPr>
            <a:r>
              <a:t>196.14s</a:t>
            </a:r>
          </a:p>
          <a:p>
            <a:pPr algn="ctr">
              <a:defRPr sz="1100" b="1">
                <a:solidFill>
                  <a:srgbClr val="F8FAFC"/>
                </a:solidFill>
                <a:latin typeface="Segoe UI"/>
              </a:defRPr>
            </a:pPr>
            <a:r>
              <a:t>Training Duration</a:t>
            </a:r>
          </a:p>
          <a:p>
            <a:pPr algn="ctr">
              <a:defRPr sz="900">
                <a:solidFill>
                  <a:srgbClr val="94A3B8"/>
                </a:solidFill>
                <a:latin typeface="Segoe UI"/>
              </a:defRPr>
            </a:pPr>
            <a:r>
              <a:t>3.27 mins on local RTX 4060</a:t>
            </a:r>
          </a:p>
        </p:txBody>
      </p:sp>
      <p:sp>
        <p:nvSpPr>
          <p:cNvPr id="10" name="Rectangle 9"/>
          <p:cNvSpPr/>
          <p:nvPr/>
        </p:nvSpPr>
        <p:spPr>
          <a:xfrm>
            <a:off x="3593592" y="1874520"/>
            <a:ext cx="2267712" cy="36576"/>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81344" y="1737360"/>
            <a:ext cx="2542032" cy="11887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2800" b="1">
                <a:solidFill>
                  <a:srgbClr val="10B981"/>
                </a:solidFill>
                <a:latin typeface="Segoe UI"/>
              </a:defRPr>
            </a:pPr>
            <a:r>
              <a:t>2.306</a:t>
            </a:r>
          </a:p>
          <a:p>
            <a:pPr algn="ctr">
              <a:defRPr sz="1100" b="1">
                <a:solidFill>
                  <a:srgbClr val="F8FAFC"/>
                </a:solidFill>
                <a:latin typeface="Segoe UI"/>
              </a:defRPr>
            </a:pPr>
            <a:r>
              <a:t>Best Validation Loss</a:t>
            </a:r>
          </a:p>
          <a:p>
            <a:pPr algn="ctr">
              <a:defRPr sz="900">
                <a:solidFill>
                  <a:srgbClr val="94A3B8"/>
                </a:solidFill>
                <a:latin typeface="Segoe UI"/>
              </a:defRPr>
            </a:pPr>
            <a:r>
              <a:t>Down from initial ~14.0 cross-entropy</a:t>
            </a:r>
          </a:p>
        </p:txBody>
      </p:sp>
      <p:sp>
        <p:nvSpPr>
          <p:cNvPr id="12" name="Rectangle 11"/>
          <p:cNvSpPr/>
          <p:nvPr/>
        </p:nvSpPr>
        <p:spPr>
          <a:xfrm>
            <a:off x="6318504" y="1874520"/>
            <a:ext cx="2267712"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06256" y="1737360"/>
            <a:ext cx="2542032" cy="11887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2800" b="1">
                <a:solidFill>
                  <a:srgbClr val="F59E0B"/>
                </a:solidFill>
                <a:latin typeface="Segoe UI"/>
              </a:defRPr>
            </a:pPr>
            <a:r>
              <a:t>225</a:t>
            </a:r>
          </a:p>
          <a:p>
            <a:pPr algn="ctr">
              <a:defRPr sz="1100" b="1">
                <a:solidFill>
                  <a:srgbClr val="F8FAFC"/>
                </a:solidFill>
                <a:latin typeface="Segoe UI"/>
              </a:defRPr>
            </a:pPr>
            <a:r>
              <a:t>Global Steps</a:t>
            </a:r>
          </a:p>
          <a:p>
            <a:pPr algn="ctr">
              <a:defRPr sz="900">
                <a:solidFill>
                  <a:srgbClr val="94A3B8"/>
                </a:solidFill>
                <a:latin typeface="Segoe UI"/>
              </a:defRPr>
            </a:pPr>
            <a:r>
              <a:t>3 Epochs, Effective Batch Size 16</a:t>
            </a:r>
          </a:p>
        </p:txBody>
      </p:sp>
      <p:sp>
        <p:nvSpPr>
          <p:cNvPr id="14" name="Rectangle 13"/>
          <p:cNvSpPr/>
          <p:nvPr/>
        </p:nvSpPr>
        <p:spPr>
          <a:xfrm>
            <a:off x="9043416" y="1874520"/>
            <a:ext cx="2267712"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3108960"/>
            <a:ext cx="5184648" cy="30175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100" b="1">
                <a:solidFill>
                  <a:srgbClr val="38BDF8"/>
                </a:solidFill>
                <a:latin typeface="Segoe UI"/>
              </a:defRPr>
            </a:pPr>
            <a:r>
              <a:t>HYPERPARAMETERS &amp; HARDWARE ACCELERATION</a:t>
            </a:r>
          </a:p>
          <a:p>
            <a:pPr>
              <a:spcAft>
                <a:spcPts val="400"/>
              </a:spcAft>
              <a:defRPr sz="950" b="1">
                <a:solidFill>
                  <a:srgbClr val="F8FAFC"/>
                </a:solidFill>
                <a:latin typeface="Segoe UI"/>
              </a:defRPr>
            </a:pPr>
            <a:r>
              <a:t>• Hardware Accelerator: </a:t>
            </a:r>
            <a:r>
              <a:rPr b="0">
                <a:solidFill>
                  <a:srgbClr val="E2E8F0"/>
                </a:solidFill>
              </a:rPr>
              <a:t>NVIDIA GeForce RTX 4060 Laptop GPU (8,188 MiB VRAM), CUDA 12.6</a:t>
            </a:r>
          </a:p>
          <a:p>
            <a:pPr>
              <a:spcAft>
                <a:spcPts val="400"/>
              </a:spcAft>
              <a:defRPr sz="950" b="1">
                <a:solidFill>
                  <a:srgbClr val="F8FAFC"/>
                </a:solidFill>
                <a:latin typeface="Segoe UI"/>
              </a:defRPr>
            </a:pPr>
            <a:r>
              <a:t>• Optimizer &amp; Learning Rate: </a:t>
            </a:r>
            <a:r>
              <a:rPr b="0">
                <a:solidFill>
                  <a:srgbClr val="E2E8F0"/>
                </a:solidFill>
              </a:rPr>
              <a:t>AdamW optimizer, lr = 3e-5, weight_decay = 0.01</a:t>
            </a:r>
          </a:p>
          <a:p>
            <a:pPr>
              <a:spcAft>
                <a:spcPts val="400"/>
              </a:spcAft>
              <a:defRPr sz="950" b="1">
                <a:solidFill>
                  <a:srgbClr val="F8FAFC"/>
                </a:solidFill>
                <a:latin typeface="Segoe UI"/>
              </a:defRPr>
            </a:pPr>
            <a:r>
              <a:t>• Batch Configuration: </a:t>
            </a:r>
            <a:r>
              <a:rPr b="0">
                <a:solidFill>
                  <a:srgbClr val="E2E8F0"/>
                </a:solidFill>
              </a:rPr>
              <a:t>Per-device batch size = 4, Gradient Accumulation = 4 (Effective batch size = 16)</a:t>
            </a:r>
          </a:p>
          <a:p>
            <a:pPr>
              <a:spcAft>
                <a:spcPts val="400"/>
              </a:spcAft>
              <a:defRPr sz="950" b="1">
                <a:solidFill>
                  <a:srgbClr val="F8FAFC"/>
                </a:solidFill>
                <a:latin typeface="Segoe UI"/>
              </a:defRPr>
            </a:pPr>
            <a:r>
              <a:t>• Precision: </a:t>
            </a:r>
            <a:r>
              <a:rPr b="0">
                <a:solidFill>
                  <a:srgbClr val="E2E8F0"/>
                </a:solidFill>
              </a:rPr>
              <a:t>FP16 Mixed Precision enabled for enhanced tensor core throughput</a:t>
            </a:r>
          </a:p>
          <a:p>
            <a:pPr>
              <a:spcAft>
                <a:spcPts val="400"/>
              </a:spcAft>
              <a:defRPr sz="950" b="1">
                <a:solidFill>
                  <a:srgbClr val="F8FAFC"/>
                </a:solidFill>
                <a:latin typeface="Segoe UI"/>
              </a:defRPr>
            </a:pPr>
            <a:r>
              <a:t>• Sample Subset: </a:t>
            </a:r>
            <a:r>
              <a:rPr b="0">
                <a:solidFill>
                  <a:srgbClr val="E2E8F0"/>
                </a:solidFill>
              </a:rPr>
              <a:t>1,200 training cases, 300 validation cases, 3 full training epochs</a:t>
            </a:r>
          </a:p>
          <a:p>
            <a:pPr>
              <a:spcAft>
                <a:spcPts val="400"/>
              </a:spcAft>
              <a:defRPr sz="950" b="1">
                <a:solidFill>
                  <a:srgbClr val="F8FAFC"/>
                </a:solidFill>
                <a:latin typeface="Segoe UI"/>
              </a:defRPr>
            </a:pPr>
            <a:r>
              <a:t>• Model Checkpoint: </a:t>
            </a:r>
            <a:r>
              <a:rPr b="0">
                <a:solidFill>
                  <a:srgbClr val="E2E8F0"/>
                </a:solidFill>
              </a:rPr>
              <a:t>models/checkpoints/civilsum_bart (saved via load_best_model_at_end)</a:t>
            </a:r>
          </a:p>
        </p:txBody>
      </p:sp>
      <p:sp>
        <p:nvSpPr>
          <p:cNvPr id="16" name="Rounded Rectangle 15"/>
          <p:cNvSpPr/>
          <p:nvPr/>
        </p:nvSpPr>
        <p:spPr>
          <a:xfrm>
            <a:off x="6272784" y="3108960"/>
            <a:ext cx="5184648" cy="30175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100" b="1">
                <a:solidFill>
                  <a:srgbClr val="2DD4BF"/>
                </a:solidFill>
                <a:latin typeface="Segoe UI"/>
              </a:defRPr>
            </a:pPr>
            <a:r>
              <a:t>TRAINING PROGRESSION &amp; INTEGRITY GUARDS</a:t>
            </a:r>
          </a:p>
          <a:p>
            <a:pPr>
              <a:spcAft>
                <a:spcPts val="600"/>
              </a:spcAft>
              <a:defRPr sz="950" b="1">
                <a:solidFill>
                  <a:srgbClr val="10B981"/>
                </a:solidFill>
                <a:latin typeface="Segoe UI"/>
              </a:defRPr>
            </a:pPr>
            <a:r>
              <a:t>✔ Loss Descent Convergence: </a:t>
            </a:r>
            <a:r>
              <a:rPr b="0">
                <a:solidFill>
                  <a:srgbClr val="E2E8F0"/>
                </a:solidFill>
              </a:rPr>
              <a:t>Validation cross-entropy loss descended rapidly: Initial loss ~14.0 → Epoch 2 loss: 2.318 → Epoch 3 loss: 2.306 (final step loss: 9.852).</a:t>
            </a:r>
          </a:p>
          <a:p>
            <a:pPr>
              <a:spcAft>
                <a:spcPts val="600"/>
              </a:spcAft>
              <a:defRPr sz="950" b="1">
                <a:solidFill>
                  <a:srgbClr val="10B981"/>
                </a:solidFill>
                <a:latin typeface="Segoe UI"/>
              </a:defRPr>
            </a:pPr>
            <a:r>
              <a:t>✔ Validation Throughput: </a:t>
            </a:r>
            <a:r>
              <a:rPr b="0">
                <a:solidFill>
                  <a:srgbClr val="E2E8F0"/>
                </a:solidFill>
              </a:rPr>
              <a:t>Sustained high evaluation speeds of 67.61 to 75.08 samples per second during validation passes.</a:t>
            </a:r>
          </a:p>
          <a:p>
            <a:pPr>
              <a:spcAft>
                <a:spcPts val="600"/>
              </a:spcAft>
              <a:defRPr sz="950" b="1">
                <a:solidFill>
                  <a:srgbClr val="10B981"/>
                </a:solidFill>
                <a:latin typeface="Segoe UI"/>
              </a:defRPr>
            </a:pPr>
            <a:r>
              <a:t>✔ Strict Checkpoint Enforcement: </a:t>
            </a:r>
            <a:r>
              <a:rPr b="0">
                <a:solidFill>
                  <a:srgbClr val="E2E8F0"/>
                </a:solidFill>
              </a:rPr>
              <a:t>The codebase strictly halts with an informative error if the fine-tuned checkpoint is missing, preventing silent fallbacks to untrained generic weights.</a:t>
            </a:r>
          </a:p>
          <a:p>
            <a:pPr>
              <a:spcAft>
                <a:spcPts val="600"/>
              </a:spcAft>
              <a:defRPr sz="950" b="1">
                <a:solidFill>
                  <a:srgbClr val="10B981"/>
                </a:solidFill>
                <a:latin typeface="Segoe UI"/>
              </a:defRPr>
            </a:pPr>
            <a:r>
              <a:t>✔ Deterministic Reproducibility: </a:t>
            </a:r>
            <a:r>
              <a:rPr b="0">
                <a:solidFill>
                  <a:srgbClr val="E2E8F0"/>
                </a:solidFill>
              </a:rPr>
              <a:t>Training metadata, random seeds, and hardware configurations are permanently serialized in training_metadata.json.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188720"/>
          </a:xfrm>
          <a:prstGeom prst="rect">
            <a:avLst/>
          </a:prstGeom>
          <a:noFill/>
        </p:spPr>
        <p:txBody>
          <a:bodyPr wrap="square" lIns="0" tIns="0" rIns="0" bIns="0">
            <a:spAutoFit/>
          </a:bodyPr>
          <a:lstStyle/>
          <a:p>
            <a:pPr>
              <a:spcAft>
                <a:spcPts val="200"/>
              </a:spcAft>
              <a:defRPr sz="1000" b="1">
                <a:solidFill>
                  <a:srgbClr val="38BDF8"/>
                </a:solidFill>
                <a:latin typeface="Segoe UI"/>
              </a:defRPr>
            </a:pPr>
            <a:r>
              <a:t>AGENTIC REASONING  |  HTTP 503 FAULT TOLERANCE</a:t>
            </a:r>
          </a:p>
          <a:p>
            <a:pPr>
              <a:spcAft>
                <a:spcPts val="200"/>
              </a:spcAft>
              <a:defRPr sz="2200" b="1">
                <a:solidFill>
                  <a:srgbClr val="F8FAFC"/>
                </a:solidFill>
                <a:latin typeface="Segoe UI"/>
              </a:defRPr>
            </a:pPr>
            <a:r>
              <a:t>Gemini Reasoning Agents &amp; Resilience Architecture</a:t>
            </a:r>
          </a:p>
          <a:p>
            <a:pPr>
              <a:defRPr sz="1100">
                <a:solidFill>
                  <a:srgbClr val="94A3B8"/>
                </a:solidFill>
                <a:latin typeface="Segoe UI"/>
              </a:defRPr>
            </a:pPr>
            <a:r>
              <a:t>Extracting complex legal doctrines via zero-shot prompts with enterprise backoff protection.</a:t>
            </a:r>
          </a:p>
        </p:txBody>
      </p:sp>
      <p:sp>
        <p:nvSpPr>
          <p:cNvPr id="5" name="TextBox 4"/>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latin typeface="Segoe UI"/>
              </a:defRPr>
            </a:pPr>
            <a:r>
              <a:t>Legal Document Summarization: A Zero-Shot Modular Agentic Workflow Approach</a:t>
            </a:r>
          </a:p>
        </p:txBody>
      </p:sp>
      <p:sp>
        <p:nvSpPr>
          <p:cNvPr id="6" name="TextBox 5"/>
          <p:cNvSpPr txBox="1"/>
          <p:nvPr/>
        </p:nvSpPr>
        <p:spPr>
          <a:xfrm>
            <a:off x="10515600" y="6400800"/>
            <a:ext cx="914400" cy="320040"/>
          </a:xfrm>
          <a:prstGeom prst="rect">
            <a:avLst/>
          </a:prstGeom>
          <a:noFill/>
        </p:spPr>
        <p:txBody>
          <a:bodyPr wrap="none" lIns="0" tIns="0" rIns="0" bIns="0">
            <a:spAutoFit/>
          </a:bodyPr>
          <a:lstStyle/>
          <a:p>
            <a:pPr algn="r">
              <a:defRPr sz="900" b="1">
                <a:solidFill>
                  <a:srgbClr val="2DD4BF"/>
                </a:solidFill>
                <a:latin typeface="Segoe UI"/>
              </a:defRPr>
            </a:pPr>
            <a:r>
              <a:t>08 / 12</a:t>
            </a:r>
          </a:p>
        </p:txBody>
      </p:sp>
      <p:sp>
        <p:nvSpPr>
          <p:cNvPr id="7" name="Rounded Rectangle 6"/>
          <p:cNvSpPr/>
          <p:nvPr/>
        </p:nvSpPr>
        <p:spPr>
          <a:xfrm>
            <a:off x="731520" y="1737360"/>
            <a:ext cx="5184648" cy="43891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spcAft>
                <a:spcPts val="1000"/>
              </a:spcAft>
              <a:defRPr sz="1600" b="1">
                <a:solidFill>
                  <a:srgbClr val="F8FAFC"/>
                </a:solidFill>
                <a:latin typeface="Segoe UI"/>
              </a:defRPr>
            </a:pPr>
            <a:br/>
            <a:br/>
            <a:r>
              <a:t>Zero-Shot Prompt Framing &amp; Roles</a:t>
            </a:r>
          </a:p>
          <a:p>
            <a:pPr>
              <a:spcAft>
                <a:spcPts val="800"/>
              </a:spcAft>
              <a:defRPr sz="1000" b="1">
                <a:solidFill>
                  <a:srgbClr val="38BDF8"/>
                </a:solidFill>
                <a:latin typeface="Segoe UI"/>
              </a:defRPr>
            </a:pPr>
            <a:r>
              <a:t>• Stage 2: Document Structure Agent: </a:t>
            </a:r>
            <a:r>
              <a:rPr b="0">
                <a:solidFill>
                  <a:srgbClr val="E2E8F0"/>
                </a:solidFill>
              </a:rPr>
              <a:t>Extracts structural legal entities into validated JSON: Case Title, Court Name, Coram/Bench, Petitioner, Respondent, and Statutory Acts involved.</a:t>
            </a:r>
          </a:p>
          <a:p>
            <a:pPr>
              <a:spcAft>
                <a:spcPts val="800"/>
              </a:spcAft>
              <a:defRPr sz="1000" b="1">
                <a:solidFill>
                  <a:srgbClr val="38BDF8"/>
                </a:solidFill>
                <a:latin typeface="Segoe UI"/>
              </a:defRPr>
            </a:pPr>
            <a:r>
              <a:t>• Stage 3: Legal Reasoner Agent: </a:t>
            </a:r>
            <a:r>
              <a:rPr b="0">
                <a:solidFill>
                  <a:srgbClr val="E2E8F0"/>
                </a:solidFill>
              </a:rPr>
              <a:t>Extracts jurisprudential components: Procedural Background, Questions of Law, Litigant Contentions, Ratio Decidendi (the legal holding), and Court Decree.</a:t>
            </a:r>
          </a:p>
          <a:p>
            <a:pPr>
              <a:spcAft>
                <a:spcPts val="800"/>
              </a:spcAft>
              <a:defRPr sz="1000" b="1">
                <a:solidFill>
                  <a:srgbClr val="38BDF8"/>
                </a:solidFill>
                <a:latin typeface="Segoe UI"/>
              </a:defRPr>
            </a:pPr>
            <a:r>
              <a:t>• Strict Schema Enforcement: </a:t>
            </a:r>
            <a:r>
              <a:rPr b="0">
                <a:solidFill>
                  <a:srgbClr val="E2E8F0"/>
                </a:solidFill>
              </a:rPr>
              <a:t>Both agents enforce strict JSON schemas with low temperature (0.2) to eliminate creative hallucination and ensure deterministic downstream parsing.</a:t>
            </a:r>
          </a:p>
          <a:p>
            <a:pPr>
              <a:spcAft>
                <a:spcPts val="800"/>
              </a:spcAft>
              <a:defRPr sz="1000" b="1">
                <a:solidFill>
                  <a:srgbClr val="38BDF8"/>
                </a:solidFill>
                <a:latin typeface="Segoe UI"/>
              </a:defRPr>
            </a:pPr>
            <a:r>
              <a:t>• Zero Fabrication Rule: </a:t>
            </a:r>
            <a:r>
              <a:rPr b="0">
                <a:solidFill>
                  <a:srgbClr val="E2E8F0"/>
                </a:solidFill>
              </a:rPr>
              <a:t>Prompts explicitly mandate: 'If a statutory section or bench name is not mentioned in the source judgment, return null rather than guessing.'</a:t>
            </a:r>
          </a:p>
        </p:txBody>
      </p:sp>
      <p:sp>
        <p:nvSpPr>
          <p:cNvPr id="8" name="Rounded Rectangle 7"/>
          <p:cNvSpPr/>
          <p:nvPr/>
        </p:nvSpPr>
        <p:spPr>
          <a:xfrm>
            <a:off x="1005840" y="1965960"/>
            <a:ext cx="2194560" cy="27432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SPECIALIZED AGENTS</a:t>
            </a:r>
          </a:p>
        </p:txBody>
      </p:sp>
      <p:sp>
        <p:nvSpPr>
          <p:cNvPr id="9" name="Rounded Rectangle 8"/>
          <p:cNvSpPr/>
          <p:nvPr/>
        </p:nvSpPr>
        <p:spPr>
          <a:xfrm>
            <a:off x="6272784" y="1737360"/>
            <a:ext cx="5184648" cy="4389120"/>
          </a:xfrm>
          <a:prstGeom prst="roundRect">
            <a:avLst/>
          </a:prstGeom>
          <a:solidFill>
            <a:srgbClr val="122846"/>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spcAft>
                <a:spcPts val="1000"/>
              </a:spcAft>
              <a:defRPr sz="1600" b="1">
                <a:solidFill>
                  <a:srgbClr val="F59E0B"/>
                </a:solidFill>
                <a:latin typeface="Segoe UI"/>
              </a:defRPr>
            </a:pPr>
            <a:br/>
            <a:br/>
            <a:r>
              <a:t>HTTP 503 Mitigation &amp; Backoff</a:t>
            </a:r>
          </a:p>
          <a:p>
            <a:pPr>
              <a:spcAft>
                <a:spcPts val="800"/>
              </a:spcAft>
              <a:defRPr sz="1000" b="1">
                <a:solidFill>
                  <a:srgbClr val="2DD4BF"/>
                </a:solidFill>
                <a:latin typeface="Segoe UI"/>
              </a:defRPr>
            </a:pPr>
            <a:r>
              <a:t>✔ The Challenge: Transient 503s: </a:t>
            </a:r>
            <a:r>
              <a:rPr b="0">
                <a:solidFill>
                  <a:srgbClr val="E2E8F0"/>
                </a:solidFill>
              </a:rPr>
              <a:t>Cloud LLMs frequently return HTTP 503 Service Unavailable during peak compute load, causing unhandled pipeline exceptions.</a:t>
            </a:r>
          </a:p>
          <a:p>
            <a:pPr>
              <a:spcAft>
                <a:spcPts val="800"/>
              </a:spcAft>
              <a:defRPr sz="1000" b="1">
                <a:solidFill>
                  <a:srgbClr val="2DD4BF"/>
                </a:solidFill>
                <a:latin typeface="Segoe UI"/>
              </a:defRPr>
            </a:pPr>
            <a:r>
              <a:t>✔ Tenacity Exponential Backoff: </a:t>
            </a:r>
            <a:r>
              <a:rPr b="0">
                <a:solidFill>
                  <a:srgbClr val="E2E8F0"/>
                </a:solidFill>
              </a:rPr>
              <a:t>Integrated tenacity retry decorators with exponential backoff and randomized jitter: Attempt 1 at 2s → Attempt 2 at 4s → Attempt 3 at 8s.</a:t>
            </a:r>
          </a:p>
          <a:p>
            <a:pPr>
              <a:spcAft>
                <a:spcPts val="800"/>
              </a:spcAft>
              <a:defRPr sz="1000" b="1">
                <a:solidFill>
                  <a:srgbClr val="2DD4BF"/>
                </a:solidFill>
                <a:latin typeface="Segoe UI"/>
              </a:defRPr>
            </a:pPr>
            <a:r>
              <a:t>✔ Retry Storm Prevention: </a:t>
            </a:r>
            <a:r>
              <a:rPr b="0">
                <a:solidFill>
                  <a:srgbClr val="E2E8F0"/>
                </a:solidFill>
              </a:rPr>
              <a:t>Decoupled retry loops between Document Structure and Legal Reasoner nodes to prevent compounding simultaneous requests from overwhelming the API.</a:t>
            </a:r>
          </a:p>
          <a:p>
            <a:pPr>
              <a:spcAft>
                <a:spcPts val="800"/>
              </a:spcAft>
              <a:defRPr sz="1000" b="1">
                <a:solidFill>
                  <a:srgbClr val="2DD4BF"/>
                </a:solidFill>
                <a:latin typeface="Segoe UI"/>
              </a:defRPr>
            </a:pPr>
            <a:r>
              <a:t>✔ Graceful Degradation: </a:t>
            </a:r>
            <a:r>
              <a:rPr b="0">
                <a:solidFill>
                  <a:srgbClr val="E2E8F0"/>
                </a:solidFill>
              </a:rPr>
              <a:t>If cloud services remain offline after 3 attempts, the pipeline flags the agent as unavailable without faking legal data, allowing the local BART model to continue.</a:t>
            </a:r>
          </a:p>
        </p:txBody>
      </p:sp>
      <p:sp>
        <p:nvSpPr>
          <p:cNvPr id="10" name="Rounded Rectangle 9"/>
          <p:cNvSpPr/>
          <p:nvPr/>
        </p:nvSpPr>
        <p:spPr>
          <a:xfrm>
            <a:off x="6547104" y="1965960"/>
            <a:ext cx="2377440" cy="2743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ENTERPRISE RESILIENCE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188720"/>
          </a:xfrm>
          <a:prstGeom prst="rect">
            <a:avLst/>
          </a:prstGeom>
          <a:noFill/>
        </p:spPr>
        <p:txBody>
          <a:bodyPr wrap="square" lIns="0" tIns="0" rIns="0" bIns="0">
            <a:spAutoFit/>
          </a:bodyPr>
          <a:lstStyle/>
          <a:p>
            <a:pPr>
              <a:spcAft>
                <a:spcPts val="200"/>
              </a:spcAft>
              <a:defRPr sz="1000" b="1">
                <a:solidFill>
                  <a:srgbClr val="38BDF8"/>
                </a:solidFill>
                <a:latin typeface="Segoe UI"/>
              </a:defRPr>
            </a:pPr>
            <a:r>
              <a:t>EMPIRICAL BENCHMARKING  |  QUALITY ASSURANCE</a:t>
            </a:r>
          </a:p>
          <a:p>
            <a:pPr>
              <a:spcAft>
                <a:spcPts val="200"/>
              </a:spcAft>
              <a:defRPr sz="2200" b="1">
                <a:solidFill>
                  <a:srgbClr val="F8FAFC"/>
                </a:solidFill>
                <a:latin typeface="Segoe UI"/>
              </a:defRPr>
            </a:pPr>
            <a:r>
              <a:t>Empirical Results, Grounding Auditor, &amp; Test Suite</a:t>
            </a:r>
          </a:p>
          <a:p>
            <a:pPr>
              <a:defRPr sz="1100">
                <a:solidFill>
                  <a:srgbClr val="94A3B8"/>
                </a:solidFill>
                <a:latin typeface="Segoe UI"/>
              </a:defRPr>
            </a:pPr>
            <a:r>
              <a:t>Quantitative ROUGE scores on held-out test data, deterministic fact-checking, and test coverage.</a:t>
            </a:r>
          </a:p>
        </p:txBody>
      </p:sp>
      <p:sp>
        <p:nvSpPr>
          <p:cNvPr id="5" name="TextBox 4"/>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latin typeface="Segoe UI"/>
              </a:defRPr>
            </a:pPr>
            <a:r>
              <a:t>Legal Document Summarization: A Zero-Shot Modular Agentic Workflow Approach</a:t>
            </a:r>
          </a:p>
        </p:txBody>
      </p:sp>
      <p:sp>
        <p:nvSpPr>
          <p:cNvPr id="6" name="TextBox 5"/>
          <p:cNvSpPr txBox="1"/>
          <p:nvPr/>
        </p:nvSpPr>
        <p:spPr>
          <a:xfrm>
            <a:off x="10515600" y="6400800"/>
            <a:ext cx="914400" cy="320040"/>
          </a:xfrm>
          <a:prstGeom prst="rect">
            <a:avLst/>
          </a:prstGeom>
          <a:noFill/>
        </p:spPr>
        <p:txBody>
          <a:bodyPr wrap="none" lIns="0" tIns="0" rIns="0" bIns="0">
            <a:spAutoFit/>
          </a:bodyPr>
          <a:lstStyle/>
          <a:p>
            <a:pPr algn="r">
              <a:defRPr sz="900" b="1">
                <a:solidFill>
                  <a:srgbClr val="2DD4BF"/>
                </a:solidFill>
                <a:latin typeface="Segoe UI"/>
              </a:defRPr>
            </a:pPr>
            <a:r>
              <a:t>09 / 12</a:t>
            </a:r>
          </a:p>
        </p:txBody>
      </p:sp>
      <p:sp>
        <p:nvSpPr>
          <p:cNvPr id="7" name="Rounded Rectangle 6"/>
          <p:cNvSpPr/>
          <p:nvPr/>
        </p:nvSpPr>
        <p:spPr>
          <a:xfrm>
            <a:off x="731520" y="1737360"/>
            <a:ext cx="2542032" cy="11887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2800" b="1">
                <a:solidFill>
                  <a:srgbClr val="38BDF8"/>
                </a:solidFill>
                <a:latin typeface="Segoe UI"/>
              </a:defRPr>
            </a:pPr>
            <a:r>
              <a:t>37.39</a:t>
            </a:r>
          </a:p>
          <a:p>
            <a:pPr algn="ctr">
              <a:defRPr sz="1100" b="1">
                <a:solidFill>
                  <a:srgbClr val="F8FAFC"/>
                </a:solidFill>
                <a:latin typeface="Segoe UI"/>
              </a:defRPr>
            </a:pPr>
            <a:r>
              <a:t>ROUGE-1 F1</a:t>
            </a:r>
          </a:p>
          <a:p>
            <a:pPr algn="ctr">
              <a:defRPr sz="900">
                <a:solidFill>
                  <a:srgbClr val="94A3B8"/>
                </a:solidFill>
                <a:latin typeface="Segoe UI"/>
              </a:defRPr>
            </a:pPr>
            <a:r>
              <a:t>Unigram Overlap &amp; Key Terminology</a:t>
            </a:r>
          </a:p>
        </p:txBody>
      </p:sp>
      <p:sp>
        <p:nvSpPr>
          <p:cNvPr id="8" name="Rectangle 7"/>
          <p:cNvSpPr/>
          <p:nvPr/>
        </p:nvSpPr>
        <p:spPr>
          <a:xfrm>
            <a:off x="868680" y="1874520"/>
            <a:ext cx="2267712"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56432" y="1737360"/>
            <a:ext cx="2542032" cy="11887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2800" b="1">
                <a:solidFill>
                  <a:srgbClr val="2DD4BF"/>
                </a:solidFill>
                <a:latin typeface="Segoe UI"/>
              </a:defRPr>
            </a:pPr>
            <a:r>
              <a:t>14.31</a:t>
            </a:r>
          </a:p>
          <a:p>
            <a:pPr algn="ctr">
              <a:defRPr sz="1100" b="1">
                <a:solidFill>
                  <a:srgbClr val="F8FAFC"/>
                </a:solidFill>
                <a:latin typeface="Segoe UI"/>
              </a:defRPr>
            </a:pPr>
            <a:r>
              <a:t>ROUGE-2 F1</a:t>
            </a:r>
          </a:p>
          <a:p>
            <a:pPr algn="ctr">
              <a:defRPr sz="900">
                <a:solidFill>
                  <a:srgbClr val="94A3B8"/>
                </a:solidFill>
                <a:latin typeface="Segoe UI"/>
              </a:defRPr>
            </a:pPr>
            <a:r>
              <a:t>Bigram Overlap &amp; Legal Phrasing</a:t>
            </a:r>
          </a:p>
        </p:txBody>
      </p:sp>
      <p:sp>
        <p:nvSpPr>
          <p:cNvPr id="10" name="Rectangle 9"/>
          <p:cNvSpPr/>
          <p:nvPr/>
        </p:nvSpPr>
        <p:spPr>
          <a:xfrm>
            <a:off x="3593592" y="1874520"/>
            <a:ext cx="2267712" cy="36576"/>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81344" y="1737360"/>
            <a:ext cx="2542032" cy="11887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2800" b="1">
                <a:solidFill>
                  <a:srgbClr val="F59E0B"/>
                </a:solidFill>
                <a:latin typeface="Segoe UI"/>
              </a:defRPr>
            </a:pPr>
            <a:r>
              <a:t>24.62</a:t>
            </a:r>
          </a:p>
          <a:p>
            <a:pPr algn="ctr">
              <a:defRPr sz="1100" b="1">
                <a:solidFill>
                  <a:srgbClr val="F8FAFC"/>
                </a:solidFill>
                <a:latin typeface="Segoe UI"/>
              </a:defRPr>
            </a:pPr>
            <a:r>
              <a:t>ROUGE-L F1</a:t>
            </a:r>
          </a:p>
          <a:p>
            <a:pPr algn="ctr">
              <a:defRPr sz="900">
                <a:solidFill>
                  <a:srgbClr val="94A3B8"/>
                </a:solidFill>
                <a:latin typeface="Segoe UI"/>
              </a:defRPr>
            </a:pPr>
            <a:r>
              <a:t>Sentence Structure &amp; Sequence Flow</a:t>
            </a:r>
          </a:p>
        </p:txBody>
      </p:sp>
      <p:sp>
        <p:nvSpPr>
          <p:cNvPr id="12" name="Rectangle 11"/>
          <p:cNvSpPr/>
          <p:nvPr/>
        </p:nvSpPr>
        <p:spPr>
          <a:xfrm>
            <a:off x="6318504" y="1874520"/>
            <a:ext cx="2267712"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06256" y="1737360"/>
            <a:ext cx="2542032" cy="11887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2800" b="1">
                <a:solidFill>
                  <a:srgbClr val="10B981"/>
                </a:solidFill>
                <a:latin typeface="Segoe UI"/>
              </a:defRPr>
            </a:pPr>
            <a:r>
              <a:t>60 / 60</a:t>
            </a:r>
          </a:p>
          <a:p>
            <a:pPr algn="ctr">
              <a:defRPr sz="1100" b="1">
                <a:solidFill>
                  <a:srgbClr val="F8FAFC"/>
                </a:solidFill>
                <a:latin typeface="Segoe UI"/>
              </a:defRPr>
            </a:pPr>
            <a:r>
              <a:t>Automated Tests</a:t>
            </a:r>
          </a:p>
          <a:p>
            <a:pPr algn="ctr">
              <a:defRPr sz="900">
                <a:solidFill>
                  <a:srgbClr val="94A3B8"/>
                </a:solidFill>
                <a:latin typeface="Segoe UI"/>
              </a:defRPr>
            </a:pPr>
            <a:r>
              <a:t>100% Pass Rate across Pytest Suite</a:t>
            </a:r>
          </a:p>
        </p:txBody>
      </p:sp>
      <p:sp>
        <p:nvSpPr>
          <p:cNvPr id="14" name="Rectangle 13"/>
          <p:cNvSpPr/>
          <p:nvPr/>
        </p:nvSpPr>
        <p:spPr>
          <a:xfrm>
            <a:off x="9043416" y="1874520"/>
            <a:ext cx="2267712"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3108960"/>
            <a:ext cx="5184648" cy="30175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100" b="1">
                <a:solidFill>
                  <a:srgbClr val="38BDF8"/>
                </a:solidFill>
                <a:latin typeface="Segoe UI"/>
              </a:defRPr>
            </a:pPr>
            <a:r>
              <a:t>EMPIRICAL EVALUATION PROTOCOL &amp; DISCLOSURE</a:t>
            </a:r>
          </a:p>
          <a:p>
            <a:pPr>
              <a:spcAft>
                <a:spcPts val="400"/>
              </a:spcAft>
              <a:defRPr sz="950" b="1">
                <a:solidFill>
                  <a:srgbClr val="F8FAFC"/>
                </a:solidFill>
                <a:latin typeface="Segoe UI"/>
              </a:defRPr>
            </a:pPr>
            <a:r>
              <a:t>• Official Test Split: </a:t>
            </a:r>
            <a:r>
              <a:rPr b="0">
                <a:solidFill>
                  <a:srgbClr val="E2E8F0"/>
                </a:solidFill>
              </a:rPr>
              <a:t>Evaluated on 50 randomly sampled test court cases from official data/test.csv.</a:t>
            </a:r>
          </a:p>
          <a:p>
            <a:pPr>
              <a:spcAft>
                <a:spcPts val="400"/>
              </a:spcAft>
              <a:defRPr sz="950" b="1">
                <a:solidFill>
                  <a:srgbClr val="F8FAFC"/>
                </a:solidFill>
                <a:latin typeface="Segoe UI"/>
              </a:defRPr>
            </a:pPr>
            <a:r>
              <a:t>• Scoring Mechanism: </a:t>
            </a:r>
            <a:r>
              <a:rPr b="0">
                <a:solidFill>
                  <a:srgbClr val="E2E8F0"/>
                </a:solidFill>
              </a:rPr>
              <a:t>Computed via official Google rouge_scorer comparing generated abstractive text directly against expert-written judicial headnotes.</a:t>
            </a:r>
          </a:p>
          <a:p>
            <a:pPr>
              <a:spcAft>
                <a:spcPts val="400"/>
              </a:spcAft>
              <a:defRPr sz="950" b="1">
                <a:solidFill>
                  <a:srgbClr val="F8FAFC"/>
                </a:solidFill>
                <a:latin typeface="Segoe UI"/>
              </a:defRPr>
            </a:pPr>
            <a:r>
              <a:t>• ROUGE-1 (37.39): </a:t>
            </a:r>
            <a:r>
              <a:rPr b="0">
                <a:solidFill>
                  <a:srgbClr val="E2E8F0"/>
                </a:solidFill>
              </a:rPr>
              <a:t>Measures informative lexical coverage—capturing party names, statutory acts, and core subject matter.</a:t>
            </a:r>
          </a:p>
          <a:p>
            <a:pPr>
              <a:spcAft>
                <a:spcPts val="400"/>
              </a:spcAft>
              <a:defRPr sz="950" b="1">
                <a:solidFill>
                  <a:srgbClr val="F8FAFC"/>
                </a:solidFill>
                <a:latin typeface="Segoe UI"/>
              </a:defRPr>
            </a:pPr>
            <a:r>
              <a:t>• ROUGE-2 (14.31): </a:t>
            </a:r>
            <a:r>
              <a:rPr b="0">
                <a:solidFill>
                  <a:srgbClr val="E2E8F0"/>
                </a:solidFill>
              </a:rPr>
              <a:t>Measures paired legal phrasing fluency (e.g., 'civil appeal', 'substantial question of law', 'decree passed').</a:t>
            </a:r>
          </a:p>
          <a:p>
            <a:pPr>
              <a:spcAft>
                <a:spcPts val="400"/>
              </a:spcAft>
              <a:defRPr sz="950" b="1">
                <a:solidFill>
                  <a:srgbClr val="F8FAFC"/>
                </a:solidFill>
                <a:latin typeface="Segoe UI"/>
              </a:defRPr>
            </a:pPr>
            <a:r>
              <a:t>• ROUGE-L (24.62): </a:t>
            </a:r>
            <a:r>
              <a:rPr b="0">
                <a:solidFill>
                  <a:srgbClr val="E2E8F0"/>
                </a:solidFill>
              </a:rPr>
              <a:t>Measures Longest Common Subsequence, confirming syntactic coherence and narrative flow.</a:t>
            </a:r>
          </a:p>
        </p:txBody>
      </p:sp>
      <p:sp>
        <p:nvSpPr>
          <p:cNvPr id="16" name="Rounded Rectangle 15"/>
          <p:cNvSpPr/>
          <p:nvPr/>
        </p:nvSpPr>
        <p:spPr>
          <a:xfrm>
            <a:off x="6272784" y="3108960"/>
            <a:ext cx="5184648" cy="30175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100" b="1">
                <a:solidFill>
                  <a:srgbClr val="10B981"/>
                </a:solidFill>
                <a:latin typeface="Segoe UI"/>
              </a:defRPr>
            </a:pPr>
            <a:r>
              <a:t>DETERMINISTIC GROUNDING AUDITOR &amp; TEST SUITE</a:t>
            </a:r>
          </a:p>
          <a:p>
            <a:pPr>
              <a:spcAft>
                <a:spcPts val="400"/>
              </a:spcAft>
              <a:defRPr sz="950" b="1">
                <a:solidFill>
                  <a:srgbClr val="2DD4BF"/>
                </a:solidFill>
                <a:latin typeface="Segoe UI"/>
              </a:defRPr>
            </a:pPr>
            <a:r>
              <a:t>✔ Deterministic Regex Parsing: </a:t>
            </a:r>
            <a:r>
              <a:rPr b="0">
                <a:solidFill>
                  <a:srgbClr val="E2E8F0"/>
                </a:solidFill>
              </a:rPr>
              <a:t>Scans the generated summary for all cited statutory sections (e.g., 'Section 9 CPC') and checks verbatim grounding in the source judgment.</a:t>
            </a:r>
          </a:p>
          <a:p>
            <a:pPr>
              <a:spcAft>
                <a:spcPts val="400"/>
              </a:spcAft>
              <a:defRPr sz="950" b="1">
                <a:solidFill>
                  <a:srgbClr val="2DD4BF"/>
                </a:solidFill>
                <a:latin typeface="Segoe UI"/>
              </a:defRPr>
            </a:pPr>
            <a:r>
              <a:t>✔ Disposition Concordance Gate: </a:t>
            </a:r>
            <a:r>
              <a:rPr b="0">
                <a:solidFill>
                  <a:srgbClr val="E2E8F0"/>
                </a:solidFill>
              </a:rPr>
              <a:t>Validates that the final holding in the summary matches the extracted court disposition, eliminating the catastrophic inversion error.</a:t>
            </a:r>
          </a:p>
          <a:p>
            <a:pPr>
              <a:spcAft>
                <a:spcPts val="400"/>
              </a:spcAft>
              <a:defRPr sz="950" b="1">
                <a:solidFill>
                  <a:srgbClr val="2DD4BF"/>
                </a:solidFill>
                <a:latin typeface="Segoe UI"/>
              </a:defRPr>
            </a:pPr>
            <a:r>
              <a:t>✔ Factual Consistency Metric: </a:t>
            </a:r>
            <a:r>
              <a:rPr b="0">
                <a:solidFill>
                  <a:srgbClr val="E2E8F0"/>
                </a:solidFill>
              </a:rPr>
              <a:t>Generates an objective grounding score between 0.0 and 1.0 based on entity overlap and statutory grounding.</a:t>
            </a:r>
          </a:p>
          <a:p>
            <a:pPr>
              <a:spcAft>
                <a:spcPts val="400"/>
              </a:spcAft>
              <a:defRPr sz="950" b="1">
                <a:solidFill>
                  <a:srgbClr val="2DD4BF"/>
                </a:solidFill>
                <a:latin typeface="Segoe UI"/>
              </a:defRPr>
            </a:pPr>
            <a:r>
              <a:t>✔ 60/60 Passing Test Suite: </a:t>
            </a:r>
            <a:r>
              <a:rPr b="0">
                <a:solidFill>
                  <a:srgbClr val="E2E8F0"/>
                </a:solidFill>
              </a:rPr>
              <a:t>Full test suite covering BART checkpoint loading, LangGraph state transitions, retry backoffs, mock 503 handling, and PDF parsing.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188720"/>
          </a:xfrm>
          <a:prstGeom prst="rect">
            <a:avLst/>
          </a:prstGeom>
          <a:noFill/>
        </p:spPr>
        <p:txBody>
          <a:bodyPr wrap="square" lIns="0" tIns="0" rIns="0" bIns="0">
            <a:spAutoFit/>
          </a:bodyPr>
          <a:lstStyle/>
          <a:p>
            <a:pPr>
              <a:spcAft>
                <a:spcPts val="200"/>
              </a:spcAft>
              <a:defRPr sz="1000" b="1">
                <a:solidFill>
                  <a:srgbClr val="38BDF8"/>
                </a:solidFill>
                <a:latin typeface="Segoe UI"/>
              </a:defRPr>
            </a:pPr>
            <a:r>
              <a:t>PRODUCTION SYSTEM  |  USER WORKFLOW</a:t>
            </a:r>
          </a:p>
          <a:p>
            <a:pPr>
              <a:spcAft>
                <a:spcPts val="200"/>
              </a:spcAft>
              <a:defRPr sz="2200" b="1">
                <a:solidFill>
                  <a:srgbClr val="F8FAFC"/>
                </a:solidFill>
                <a:latin typeface="Segoe UI"/>
              </a:defRPr>
            </a:pPr>
            <a:r>
              <a:t>Application Interface &amp; Interactive Workflow</a:t>
            </a:r>
          </a:p>
          <a:p>
            <a:pPr>
              <a:defRPr sz="1100">
                <a:solidFill>
                  <a:srgbClr val="94A3B8"/>
                </a:solidFill>
                <a:latin typeface="Segoe UI"/>
              </a:defRPr>
            </a:pPr>
            <a:r>
              <a:t>Streamlit-powered interactive interface designed specifically for legal practitioners and researchers.</a:t>
            </a:r>
          </a:p>
        </p:txBody>
      </p:sp>
      <p:sp>
        <p:nvSpPr>
          <p:cNvPr id="5" name="TextBox 4"/>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latin typeface="Segoe UI"/>
              </a:defRPr>
            </a:pPr>
            <a:r>
              <a:t>Legal Document Summarization: A Zero-Shot Modular Agentic Workflow Approach</a:t>
            </a:r>
          </a:p>
        </p:txBody>
      </p:sp>
      <p:sp>
        <p:nvSpPr>
          <p:cNvPr id="6" name="TextBox 5"/>
          <p:cNvSpPr txBox="1"/>
          <p:nvPr/>
        </p:nvSpPr>
        <p:spPr>
          <a:xfrm>
            <a:off x="10515600" y="6400800"/>
            <a:ext cx="914400" cy="320040"/>
          </a:xfrm>
          <a:prstGeom prst="rect">
            <a:avLst/>
          </a:prstGeom>
          <a:noFill/>
        </p:spPr>
        <p:txBody>
          <a:bodyPr wrap="none" lIns="0" tIns="0" rIns="0" bIns="0">
            <a:spAutoFit/>
          </a:bodyPr>
          <a:lstStyle/>
          <a:p>
            <a:pPr algn="r">
              <a:defRPr sz="900" b="1">
                <a:solidFill>
                  <a:srgbClr val="2DD4BF"/>
                </a:solidFill>
                <a:latin typeface="Segoe UI"/>
              </a:defRPr>
            </a:pPr>
            <a:r>
              <a:t>10 / 12</a:t>
            </a:r>
          </a:p>
        </p:txBody>
      </p:sp>
      <p:sp>
        <p:nvSpPr>
          <p:cNvPr id="7" name="Rounded Rectangle 6"/>
          <p:cNvSpPr/>
          <p:nvPr/>
        </p:nvSpPr>
        <p:spPr>
          <a:xfrm>
            <a:off x="731520" y="1737360"/>
            <a:ext cx="2542032" cy="43891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874520"/>
            <a:ext cx="2267712" cy="2743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1. Ingestion &amp; Status</a:t>
            </a:r>
          </a:p>
        </p:txBody>
      </p:sp>
      <p:pic>
        <p:nvPicPr>
          <p:cNvPr id="9" name="Picture 8" descr="02_pdf_uploaded.png"/>
          <p:cNvPicPr>
            <a:picLocks noChangeAspect="1"/>
          </p:cNvPicPr>
          <p:nvPr/>
        </p:nvPicPr>
        <p:blipFill>
          <a:blip r:embed="rId2"/>
          <a:stretch>
            <a:fillRect/>
          </a:stretch>
        </p:blipFill>
        <p:spPr>
          <a:xfrm>
            <a:off x="868680" y="2240280"/>
            <a:ext cx="2267712" cy="2377440"/>
          </a:xfrm>
          <a:prstGeom prst="rect">
            <a:avLst/>
          </a:prstGeom>
        </p:spPr>
      </p:pic>
      <p:sp>
        <p:nvSpPr>
          <p:cNvPr id="10" name="TextBox 9"/>
          <p:cNvSpPr txBox="1"/>
          <p:nvPr/>
        </p:nvSpPr>
        <p:spPr>
          <a:xfrm>
            <a:off x="868680" y="4709160"/>
            <a:ext cx="2267712" cy="1280160"/>
          </a:xfrm>
          <a:prstGeom prst="rect">
            <a:avLst/>
          </a:prstGeom>
          <a:noFill/>
        </p:spPr>
        <p:txBody>
          <a:bodyPr wrap="square" lIns="0" rIns="0" tIns="0" bIns="0">
            <a:spAutoFit/>
          </a:bodyPr>
          <a:lstStyle/>
          <a:p>
            <a:pPr>
              <a:defRPr sz="950">
                <a:solidFill>
                  <a:srgbClr val="E2E8F0"/>
                </a:solidFill>
                <a:latin typeface="Segoe UI"/>
              </a:defRPr>
            </a:pPr>
            <a:r>
              <a:t>Upload legal PDF; inspect real-time extraction, token count, and active model checkpoint.</a:t>
            </a:r>
          </a:p>
        </p:txBody>
      </p:sp>
      <p:sp>
        <p:nvSpPr>
          <p:cNvPr id="11" name="Rounded Rectangle 10"/>
          <p:cNvSpPr/>
          <p:nvPr/>
        </p:nvSpPr>
        <p:spPr>
          <a:xfrm>
            <a:off x="3456432" y="1737360"/>
            <a:ext cx="2542032" cy="43891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93592" y="1874520"/>
            <a:ext cx="2267712" cy="2743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2. Abstractive Summary</a:t>
            </a:r>
          </a:p>
        </p:txBody>
      </p:sp>
      <p:pic>
        <p:nvPicPr>
          <p:cNvPr id="13" name="Picture 12" descr="03_abstractive_summary.png"/>
          <p:cNvPicPr>
            <a:picLocks noChangeAspect="1"/>
          </p:cNvPicPr>
          <p:nvPr/>
        </p:nvPicPr>
        <p:blipFill>
          <a:blip r:embed="rId3"/>
          <a:stretch>
            <a:fillRect/>
          </a:stretch>
        </p:blipFill>
        <p:spPr>
          <a:xfrm>
            <a:off x="3593592" y="2240280"/>
            <a:ext cx="2267712" cy="2377440"/>
          </a:xfrm>
          <a:prstGeom prst="rect">
            <a:avLst/>
          </a:prstGeom>
        </p:spPr>
      </p:pic>
      <p:sp>
        <p:nvSpPr>
          <p:cNvPr id="14" name="TextBox 13"/>
          <p:cNvSpPr txBox="1"/>
          <p:nvPr/>
        </p:nvSpPr>
        <p:spPr>
          <a:xfrm>
            <a:off x="3593592" y="4709160"/>
            <a:ext cx="2267712" cy="1280160"/>
          </a:xfrm>
          <a:prstGeom prst="rect">
            <a:avLst/>
          </a:prstGeom>
          <a:noFill/>
        </p:spPr>
        <p:txBody>
          <a:bodyPr wrap="square" lIns="0" rIns="0" tIns="0" bIns="0">
            <a:spAutoFit/>
          </a:bodyPr>
          <a:lstStyle/>
          <a:p>
            <a:pPr>
              <a:defRPr sz="950">
                <a:solidFill>
                  <a:srgbClr val="E2E8F0"/>
                </a:solidFill>
                <a:latin typeface="Segoe UI"/>
              </a:defRPr>
            </a:pPr>
            <a:r>
              <a:t>Fine-tuned BART generates a concise neural headnote using 30/70 tail-aware synthesis.</a:t>
            </a:r>
          </a:p>
        </p:txBody>
      </p:sp>
      <p:sp>
        <p:nvSpPr>
          <p:cNvPr id="15" name="Rounded Rectangle 14"/>
          <p:cNvSpPr/>
          <p:nvPr/>
        </p:nvSpPr>
        <p:spPr>
          <a:xfrm>
            <a:off x="6181344" y="1737360"/>
            <a:ext cx="2542032" cy="43891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18504" y="1874520"/>
            <a:ext cx="2267712" cy="2743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3. Legal Doctrine</a:t>
            </a:r>
          </a:p>
        </p:txBody>
      </p:sp>
      <p:pic>
        <p:nvPicPr>
          <p:cNvPr id="17" name="Picture 16" descr="04_legal_analysis_and_doctrine.png"/>
          <p:cNvPicPr>
            <a:picLocks noChangeAspect="1"/>
          </p:cNvPicPr>
          <p:nvPr/>
        </p:nvPicPr>
        <p:blipFill>
          <a:blip r:embed="rId4"/>
          <a:stretch>
            <a:fillRect/>
          </a:stretch>
        </p:blipFill>
        <p:spPr>
          <a:xfrm>
            <a:off x="6318504" y="2240280"/>
            <a:ext cx="2267712" cy="2377440"/>
          </a:xfrm>
          <a:prstGeom prst="rect">
            <a:avLst/>
          </a:prstGeom>
        </p:spPr>
      </p:pic>
      <p:sp>
        <p:nvSpPr>
          <p:cNvPr id="18" name="TextBox 17"/>
          <p:cNvSpPr txBox="1"/>
          <p:nvPr/>
        </p:nvSpPr>
        <p:spPr>
          <a:xfrm>
            <a:off x="6318504" y="4709160"/>
            <a:ext cx="2267712" cy="1280160"/>
          </a:xfrm>
          <a:prstGeom prst="rect">
            <a:avLst/>
          </a:prstGeom>
          <a:noFill/>
        </p:spPr>
        <p:txBody>
          <a:bodyPr wrap="square" lIns="0" rIns="0" tIns="0" bIns="0">
            <a:spAutoFit/>
          </a:bodyPr>
          <a:lstStyle/>
          <a:p>
            <a:pPr>
              <a:defRPr sz="950">
                <a:solidFill>
                  <a:srgbClr val="E2E8F0"/>
                </a:solidFill>
                <a:latin typeface="Segoe UI"/>
              </a:defRPr>
            </a:pPr>
            <a:r>
              <a:t>Inspect Questions of Law, Litigant Contentions, Ratio Decidendi, and Final Holding.</a:t>
            </a:r>
          </a:p>
        </p:txBody>
      </p:sp>
      <p:sp>
        <p:nvSpPr>
          <p:cNvPr id="19" name="Rounded Rectangle 18"/>
          <p:cNvSpPr/>
          <p:nvPr/>
        </p:nvSpPr>
        <p:spPr>
          <a:xfrm>
            <a:off x="8906256" y="1737360"/>
            <a:ext cx="2542032" cy="43891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43416" y="1874520"/>
            <a:ext cx="2267712" cy="2743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4. Validation &amp; Audit</a:t>
            </a:r>
          </a:p>
        </p:txBody>
      </p:sp>
      <p:pic>
        <p:nvPicPr>
          <p:cNvPr id="21" name="Picture 20" descr="05_validation_and_grounding.png"/>
          <p:cNvPicPr>
            <a:picLocks noChangeAspect="1"/>
          </p:cNvPicPr>
          <p:nvPr/>
        </p:nvPicPr>
        <p:blipFill>
          <a:blip r:embed="rId5"/>
          <a:stretch>
            <a:fillRect/>
          </a:stretch>
        </p:blipFill>
        <p:spPr>
          <a:xfrm>
            <a:off x="9043416" y="2240280"/>
            <a:ext cx="2267712" cy="2377440"/>
          </a:xfrm>
          <a:prstGeom prst="rect">
            <a:avLst/>
          </a:prstGeom>
        </p:spPr>
      </p:pic>
      <p:sp>
        <p:nvSpPr>
          <p:cNvPr id="22" name="TextBox 21"/>
          <p:cNvSpPr txBox="1"/>
          <p:nvPr/>
        </p:nvSpPr>
        <p:spPr>
          <a:xfrm>
            <a:off x="9043416" y="4709160"/>
            <a:ext cx="2267712" cy="1280160"/>
          </a:xfrm>
          <a:prstGeom prst="rect">
            <a:avLst/>
          </a:prstGeom>
          <a:noFill/>
        </p:spPr>
        <p:txBody>
          <a:bodyPr wrap="square" lIns="0" rIns="0" tIns="0" bIns="0">
            <a:spAutoFit/>
          </a:bodyPr>
          <a:lstStyle/>
          <a:p>
            <a:pPr>
              <a:defRPr sz="950">
                <a:solidFill>
                  <a:srgbClr val="E2E8F0"/>
                </a:solidFill>
                <a:latin typeface="Segoe UI"/>
              </a:defRPr>
            </a:pPr>
            <a:r>
              <a:t>Deterministic statutory grounding scores, consistency verification, and full audit trail.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188720"/>
          </a:xfrm>
          <a:prstGeom prst="rect">
            <a:avLst/>
          </a:prstGeom>
          <a:noFill/>
        </p:spPr>
        <p:txBody>
          <a:bodyPr wrap="square" lIns="0" tIns="0" rIns="0" bIns="0">
            <a:spAutoFit/>
          </a:bodyPr>
          <a:lstStyle/>
          <a:p>
            <a:pPr>
              <a:spcAft>
                <a:spcPts val="200"/>
              </a:spcAft>
              <a:defRPr sz="1000" b="1">
                <a:solidFill>
                  <a:srgbClr val="38BDF8"/>
                </a:solidFill>
                <a:latin typeface="Segoe UI"/>
              </a:defRPr>
            </a:pPr>
            <a:r>
              <a:t>ACADEMIC INTEGRITY  |  ROADMAP &amp; ETHICAL DISCLOSURES</a:t>
            </a:r>
          </a:p>
          <a:p>
            <a:pPr>
              <a:spcAft>
                <a:spcPts val="200"/>
              </a:spcAft>
              <a:defRPr sz="2200" b="1">
                <a:solidFill>
                  <a:srgbClr val="F8FAFC"/>
                </a:solidFill>
                <a:latin typeface="Segoe UI"/>
              </a:defRPr>
            </a:pPr>
            <a:r>
              <a:t>Technical Limitations &amp; Future Roadmap</a:t>
            </a:r>
          </a:p>
          <a:p>
            <a:pPr>
              <a:defRPr sz="1100">
                <a:solidFill>
                  <a:srgbClr val="94A3B8"/>
                </a:solidFill>
                <a:latin typeface="Segoe UI"/>
              </a:defRPr>
            </a:pPr>
            <a:r>
              <a:t>Honest disclosure of model boundaries, technical constraints, and planned engineering upgrades.</a:t>
            </a:r>
          </a:p>
        </p:txBody>
      </p:sp>
      <p:sp>
        <p:nvSpPr>
          <p:cNvPr id="5" name="TextBox 4"/>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latin typeface="Segoe UI"/>
              </a:defRPr>
            </a:pPr>
            <a:r>
              <a:t>Legal Document Summarization: A Zero-Shot Modular Agentic Workflow Approach</a:t>
            </a:r>
          </a:p>
        </p:txBody>
      </p:sp>
      <p:sp>
        <p:nvSpPr>
          <p:cNvPr id="6" name="TextBox 5"/>
          <p:cNvSpPr txBox="1"/>
          <p:nvPr/>
        </p:nvSpPr>
        <p:spPr>
          <a:xfrm>
            <a:off x="10515600" y="6400800"/>
            <a:ext cx="914400" cy="320040"/>
          </a:xfrm>
          <a:prstGeom prst="rect">
            <a:avLst/>
          </a:prstGeom>
          <a:noFill/>
        </p:spPr>
        <p:txBody>
          <a:bodyPr wrap="none" lIns="0" tIns="0" rIns="0" bIns="0">
            <a:spAutoFit/>
          </a:bodyPr>
          <a:lstStyle/>
          <a:p>
            <a:pPr algn="r">
              <a:defRPr sz="900" b="1">
                <a:solidFill>
                  <a:srgbClr val="2DD4BF"/>
                </a:solidFill>
                <a:latin typeface="Segoe UI"/>
              </a:defRPr>
            </a:pPr>
            <a:r>
              <a:t>11 / 12</a:t>
            </a:r>
          </a:p>
        </p:txBody>
      </p:sp>
      <p:sp>
        <p:nvSpPr>
          <p:cNvPr id="7" name="Rounded Rectangle 6"/>
          <p:cNvSpPr/>
          <p:nvPr/>
        </p:nvSpPr>
        <p:spPr>
          <a:xfrm>
            <a:off x="731520" y="1737360"/>
            <a:ext cx="5184648" cy="438912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spcAft>
                <a:spcPts val="1000"/>
              </a:spcAft>
              <a:defRPr sz="1600" b="1">
                <a:solidFill>
                  <a:srgbClr val="F8FAFC"/>
                </a:solidFill>
                <a:latin typeface="Segoe UI"/>
              </a:defRPr>
            </a:pPr>
            <a:br/>
            <a:br/>
            <a:r>
              <a:t>Current Constraints &amp; Disclosures</a:t>
            </a:r>
          </a:p>
          <a:p>
            <a:pPr>
              <a:spcAft>
                <a:spcPts val="800"/>
              </a:spcAft>
              <a:defRPr sz="1000" b="1">
                <a:solidFill>
                  <a:srgbClr val="F59E0B"/>
                </a:solidFill>
                <a:latin typeface="Segoe UI"/>
              </a:defRPr>
            </a:pPr>
            <a:r>
              <a:t>• 1,024-Token Context Limit: </a:t>
            </a:r>
            <a:r>
              <a:rPr b="0">
                <a:solidFill>
                  <a:srgbClr val="E2E8F0"/>
                </a:solidFill>
              </a:rPr>
              <a:t>BART-base is bounded by a 1,024-token attention window. While our 30/70 tail trimming preserves core rulings, intermediate witness details in 50+ page rulings are inevitably omitted.</a:t>
            </a:r>
          </a:p>
          <a:p>
            <a:pPr>
              <a:spcAft>
                <a:spcPts val="800"/>
              </a:spcAft>
              <a:defRPr sz="1000" b="1">
                <a:solidFill>
                  <a:srgbClr val="F59E0B"/>
                </a:solidFill>
                <a:latin typeface="Segoe UI"/>
              </a:defRPr>
            </a:pPr>
            <a:r>
              <a:t>• Evaluation Subset Disclosure: </a:t>
            </a:r>
            <a:r>
              <a:rPr b="0">
                <a:solidFill>
                  <a:srgbClr val="E2E8F0"/>
                </a:solidFill>
              </a:rPr>
              <a:t>In adherence to research integrity: official evaluation was conducted on 50 sampled test cases (due to single-laptop GPU time constraints) rather than all 1,167 test cases.</a:t>
            </a:r>
          </a:p>
          <a:p>
            <a:pPr>
              <a:spcAft>
                <a:spcPts val="800"/>
              </a:spcAft>
              <a:defRPr sz="1000" b="1">
                <a:solidFill>
                  <a:srgbClr val="F59E0B"/>
                </a:solidFill>
                <a:latin typeface="Segoe UI"/>
              </a:defRPr>
            </a:pPr>
            <a:r>
              <a:t>• Scanned PDF Dependency: </a:t>
            </a:r>
            <a:r>
              <a:rPr b="0">
                <a:solidFill>
                  <a:srgbClr val="E2E8F0"/>
                </a:solidFill>
              </a:rPr>
              <a:t>PyPDF relies on digital PDF text streams. Scanned image-only judgments without an embedded OCR text layer require pre-extraction.</a:t>
            </a:r>
          </a:p>
          <a:p>
            <a:pPr>
              <a:spcAft>
                <a:spcPts val="800"/>
              </a:spcAft>
              <a:defRPr sz="1000" b="1">
                <a:solidFill>
                  <a:srgbClr val="F59E0B"/>
                </a:solidFill>
                <a:latin typeface="Segoe UI"/>
              </a:defRPr>
            </a:pPr>
            <a:r>
              <a:t>• Jurisdiction Specificity: </a:t>
            </a:r>
            <a:r>
              <a:rPr b="0">
                <a:solidFill>
                  <a:srgbClr val="E2E8F0"/>
                </a:solidFill>
              </a:rPr>
              <a:t>Weights are fine-tuned on Indian civil appellate judgments; criminal jurisprudence and foreign common-law systems have not been benchmarked.</a:t>
            </a:r>
          </a:p>
        </p:txBody>
      </p:sp>
      <p:sp>
        <p:nvSpPr>
          <p:cNvPr id="8" name="Rounded Rectangle 7"/>
          <p:cNvSpPr/>
          <p:nvPr/>
        </p:nvSpPr>
        <p:spPr>
          <a:xfrm>
            <a:off x="1005840" y="1965960"/>
            <a:ext cx="2377440" cy="2743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TECHNICAL BOUNDARIES</a:t>
            </a:r>
          </a:p>
        </p:txBody>
      </p:sp>
      <p:sp>
        <p:nvSpPr>
          <p:cNvPr id="9" name="Rounded Rectangle 8"/>
          <p:cNvSpPr/>
          <p:nvPr/>
        </p:nvSpPr>
        <p:spPr>
          <a:xfrm>
            <a:off x="6272784" y="1737360"/>
            <a:ext cx="5184648" cy="4389120"/>
          </a:xfrm>
          <a:prstGeom prst="roundRect">
            <a:avLst/>
          </a:prstGeom>
          <a:solidFill>
            <a:srgbClr val="122846"/>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spcAft>
                <a:spcPts val="1000"/>
              </a:spcAft>
              <a:defRPr sz="1600" b="1">
                <a:solidFill>
                  <a:srgbClr val="38BDF8"/>
                </a:solidFill>
                <a:latin typeface="Segoe UI"/>
              </a:defRPr>
            </a:pPr>
            <a:br/>
            <a:br/>
            <a:r>
              <a:t>Planned Upgrades &amp; Research Path</a:t>
            </a:r>
          </a:p>
          <a:p>
            <a:pPr>
              <a:spcAft>
                <a:spcPts val="800"/>
              </a:spcAft>
              <a:defRPr sz="1000" b="1">
                <a:solidFill>
                  <a:srgbClr val="2DD4BF"/>
                </a:solidFill>
                <a:latin typeface="Segoe UI"/>
              </a:defRPr>
            </a:pPr>
            <a:r>
              <a:t>➔ Long-Context Transformer (LED-16384): </a:t>
            </a:r>
            <a:r>
              <a:rPr b="0">
                <a:solidFill>
                  <a:srgbClr val="E2E8F0"/>
                </a:solidFill>
              </a:rPr>
              <a:t>Upgrade base summarizer to allenai/led-base-16384 (Longformer Encoder-Decoder) to ingest entire 50-page judgments natively without trimming.</a:t>
            </a:r>
          </a:p>
          <a:p>
            <a:pPr>
              <a:spcAft>
                <a:spcPts val="800"/>
              </a:spcAft>
              <a:defRPr sz="1000" b="1">
                <a:solidFill>
                  <a:srgbClr val="2DD4BF"/>
                </a:solidFill>
                <a:latin typeface="Segoe UI"/>
              </a:defRPr>
            </a:pPr>
            <a:r>
              <a:t>➔ Full-Split Cluster Evaluation: </a:t>
            </a:r>
            <a:r>
              <a:rPr b="0">
                <a:solidFill>
                  <a:srgbClr val="E2E8F0"/>
                </a:solidFill>
              </a:rPr>
              <a:t>Execute distributed batch evaluation across all 1,167 held-out CivilSum test cases on a multi-GPU compute cluster.</a:t>
            </a:r>
          </a:p>
          <a:p>
            <a:pPr>
              <a:spcAft>
                <a:spcPts val="800"/>
              </a:spcAft>
              <a:defRPr sz="1000" b="1">
                <a:solidFill>
                  <a:srgbClr val="2DD4BF"/>
                </a:solidFill>
                <a:latin typeface="Segoe UI"/>
              </a:defRPr>
            </a:pPr>
            <a:r>
              <a:t>➔ Judicial OCR Pipeline: </a:t>
            </a:r>
            <a:r>
              <a:rPr b="0">
                <a:solidFill>
                  <a:srgbClr val="E2E8F0"/>
                </a:solidFill>
              </a:rPr>
              <a:t>Integrate Surya or Tesseract OCR with judicial stamp layout analysis to process historical scanned trial court orders.</a:t>
            </a:r>
          </a:p>
          <a:p>
            <a:pPr>
              <a:spcAft>
                <a:spcPts val="800"/>
              </a:spcAft>
              <a:defRPr sz="1000" b="1">
                <a:solidFill>
                  <a:srgbClr val="2DD4BF"/>
                </a:solidFill>
                <a:latin typeface="Segoe UI"/>
              </a:defRPr>
            </a:pPr>
            <a:r>
              <a:t>➔ Live Citation Verification (RAG): </a:t>
            </a:r>
            <a:r>
              <a:rPr b="0">
                <a:solidFill>
                  <a:srgbClr val="E2E8F0"/>
                </a:solidFill>
              </a:rPr>
              <a:t>Connect the validation node to live Indian Kanoon and Supreme Court e-Courts APIs to verify whether cited precedents remain good law or have been overruled.</a:t>
            </a:r>
          </a:p>
        </p:txBody>
      </p:sp>
      <p:sp>
        <p:nvSpPr>
          <p:cNvPr id="10" name="Rounded Rectangle 9"/>
          <p:cNvSpPr/>
          <p:nvPr/>
        </p:nvSpPr>
        <p:spPr>
          <a:xfrm>
            <a:off x="6547104" y="1965960"/>
            <a:ext cx="2377440" cy="2743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FUTURE ROADMAP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188720"/>
          </a:xfrm>
          <a:prstGeom prst="rect">
            <a:avLst/>
          </a:prstGeom>
          <a:noFill/>
        </p:spPr>
        <p:txBody>
          <a:bodyPr wrap="square" lIns="0" tIns="0" rIns="0" bIns="0">
            <a:spAutoFit/>
          </a:bodyPr>
          <a:lstStyle/>
          <a:p>
            <a:pPr>
              <a:spcAft>
                <a:spcPts val="200"/>
              </a:spcAft>
              <a:defRPr sz="1000" b="1">
                <a:solidFill>
                  <a:srgbClr val="38BDF8"/>
                </a:solidFill>
                <a:latin typeface="Segoe UI"/>
              </a:defRPr>
            </a:pPr>
            <a:r>
              <a:t>PROJECT SUMMARY  |  ACADEMIC DEFENSE</a:t>
            </a:r>
          </a:p>
          <a:p>
            <a:pPr>
              <a:spcAft>
                <a:spcPts val="200"/>
              </a:spcAft>
              <a:defRPr sz="2200" b="1">
                <a:solidFill>
                  <a:srgbClr val="F8FAFC"/>
                </a:solidFill>
                <a:latin typeface="Segoe UI"/>
              </a:defRPr>
            </a:pPr>
            <a:r>
              <a:t>Conclusion &amp; Research Contributions</a:t>
            </a:r>
          </a:p>
          <a:p>
            <a:pPr>
              <a:defRPr sz="1100">
                <a:solidFill>
                  <a:srgbClr val="94A3B8"/>
                </a:solidFill>
                <a:latin typeface="Segoe UI"/>
              </a:defRPr>
            </a:pPr>
            <a:r>
              <a:t>A verified blueprint for combining local specialized transformers with agentic reasoning in high-stakes domains.</a:t>
            </a:r>
          </a:p>
        </p:txBody>
      </p:sp>
      <p:sp>
        <p:nvSpPr>
          <p:cNvPr id="5" name="TextBox 4"/>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latin typeface="Segoe UI"/>
              </a:defRPr>
            </a:pPr>
            <a:r>
              <a:t>Legal Document Summarization: A Zero-Shot Modular Agentic Workflow Approach</a:t>
            </a:r>
          </a:p>
        </p:txBody>
      </p:sp>
      <p:sp>
        <p:nvSpPr>
          <p:cNvPr id="6" name="TextBox 5"/>
          <p:cNvSpPr txBox="1"/>
          <p:nvPr/>
        </p:nvSpPr>
        <p:spPr>
          <a:xfrm>
            <a:off x="10515600" y="6400800"/>
            <a:ext cx="914400" cy="320040"/>
          </a:xfrm>
          <a:prstGeom prst="rect">
            <a:avLst/>
          </a:prstGeom>
          <a:noFill/>
        </p:spPr>
        <p:txBody>
          <a:bodyPr wrap="none" lIns="0" tIns="0" rIns="0" bIns="0">
            <a:spAutoFit/>
          </a:bodyPr>
          <a:lstStyle/>
          <a:p>
            <a:pPr algn="r">
              <a:defRPr sz="900" b="1">
                <a:solidFill>
                  <a:srgbClr val="2DD4BF"/>
                </a:solidFill>
                <a:latin typeface="Segoe UI"/>
              </a:defRPr>
            </a:pPr>
            <a:r>
              <a:t>12 / 12</a:t>
            </a:r>
          </a:p>
        </p:txBody>
      </p:sp>
      <p:sp>
        <p:nvSpPr>
          <p:cNvPr id="7" name="Rounded Rectangle 6"/>
          <p:cNvSpPr/>
          <p:nvPr/>
        </p:nvSpPr>
        <p:spPr>
          <a:xfrm>
            <a:off x="731520" y="1737360"/>
            <a:ext cx="3328416" cy="310896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57200"/>
          <a:lstStyle/>
          <a:p>
            <a:pPr algn="ctr"/>
            <a:br/>
          </a:p>
          <a:p>
            <a:pPr>
              <a:spcAft>
                <a:spcPts val="600"/>
              </a:spcAft>
              <a:defRPr sz="950">
                <a:solidFill>
                  <a:srgbClr val="E2E8F0"/>
                </a:solidFill>
                <a:latin typeface="Segoe UI"/>
              </a:defRPr>
            </a:pPr>
            <a:r>
              <a:t>• Proved that high-stakes legal summarization is best solved not by monolithic models, but by combining local fine-tuned transformers with zero-shot reasoning agents.</a:t>
            </a:r>
          </a:p>
          <a:p>
            <a:pPr>
              <a:spcAft>
                <a:spcPts val="600"/>
              </a:spcAft>
              <a:defRPr sz="950">
                <a:solidFill>
                  <a:srgbClr val="E2E8F0"/>
                </a:solidFill>
                <a:latin typeface="Segoe UI"/>
              </a:defRPr>
            </a:pPr>
            <a:r>
              <a:t>• Retains local privacy and high throughput for neural abstractive text.</a:t>
            </a:r>
          </a:p>
          <a:p>
            <a:pPr>
              <a:spcAft>
                <a:spcPts val="600"/>
              </a:spcAft>
              <a:defRPr sz="950">
                <a:solidFill>
                  <a:srgbClr val="E2E8F0"/>
                </a:solidFill>
                <a:latin typeface="Segoe UI"/>
              </a:defRPr>
            </a:pPr>
            <a:r>
              <a:t>• Leverages cloud LLMs solely for structured legal doctrine extraction.</a:t>
            </a:r>
          </a:p>
        </p:txBody>
      </p:sp>
      <p:sp>
        <p:nvSpPr>
          <p:cNvPr id="8" name="Rounded Rectangle 7"/>
          <p:cNvSpPr/>
          <p:nvPr/>
        </p:nvSpPr>
        <p:spPr>
          <a:xfrm>
            <a:off x="914400" y="1920240"/>
            <a:ext cx="2962656" cy="292608"/>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HYBRID ARCHITECTURE</a:t>
            </a:r>
          </a:p>
        </p:txBody>
      </p:sp>
      <p:sp>
        <p:nvSpPr>
          <p:cNvPr id="9" name="Rounded Rectangle 8"/>
          <p:cNvSpPr/>
          <p:nvPr/>
        </p:nvSpPr>
        <p:spPr>
          <a:xfrm>
            <a:off x="4425696" y="1737360"/>
            <a:ext cx="3328416" cy="310896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57200"/>
          <a:lstStyle/>
          <a:p>
            <a:pPr algn="ctr"/>
            <a:br/>
          </a:p>
          <a:p>
            <a:pPr>
              <a:spcAft>
                <a:spcPts val="600"/>
              </a:spcAft>
              <a:defRPr sz="950">
                <a:solidFill>
                  <a:srgbClr val="E2E8F0"/>
                </a:solidFill>
                <a:latin typeface="Segoe UI"/>
              </a:defRPr>
            </a:pPr>
            <a:r>
              <a:t>• Engineered a domain-aware 30/70 lead/tail dynamic trimming heuristic.</a:t>
            </a:r>
          </a:p>
          <a:p>
            <a:pPr>
              <a:spcAft>
                <a:spcPts val="600"/>
              </a:spcAft>
              <a:defRPr sz="950">
                <a:solidFill>
                  <a:srgbClr val="E2E8F0"/>
                </a:solidFill>
                <a:latin typeface="Segoe UI"/>
              </a:defRPr>
            </a:pPr>
            <a:r>
              <a:t>• Eliminated the catastrophic omission of judicial ratio decidendi and court orders under tight token limits.</a:t>
            </a:r>
          </a:p>
          <a:p>
            <a:pPr>
              <a:spcAft>
                <a:spcPts val="600"/>
              </a:spcAft>
              <a:defRPr sz="950">
                <a:solidFill>
                  <a:srgbClr val="E2E8F0"/>
                </a:solidFill>
                <a:latin typeface="Segoe UI"/>
              </a:defRPr>
            </a:pPr>
            <a:r>
              <a:t>• Yielded competitive ROUGE-1 (37.39) and ROUGE-L (24.62) scores.</a:t>
            </a:r>
          </a:p>
        </p:txBody>
      </p:sp>
      <p:sp>
        <p:nvSpPr>
          <p:cNvPr id="10" name="Rounded Rectangle 9"/>
          <p:cNvSpPr/>
          <p:nvPr/>
        </p:nvSpPr>
        <p:spPr>
          <a:xfrm>
            <a:off x="4608576" y="1920240"/>
            <a:ext cx="2962656" cy="292608"/>
          </a:xfrm>
          <a:prstGeom prst="round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TAIL BIAS SOLUTION</a:t>
            </a:r>
          </a:p>
        </p:txBody>
      </p:sp>
      <p:sp>
        <p:nvSpPr>
          <p:cNvPr id="11" name="Rounded Rectangle 10"/>
          <p:cNvSpPr/>
          <p:nvPr/>
        </p:nvSpPr>
        <p:spPr>
          <a:xfrm>
            <a:off x="8119872" y="1737360"/>
            <a:ext cx="3328416" cy="3108960"/>
          </a:xfrm>
          <a:prstGeom prst="roundRect">
            <a:avLst/>
          </a:prstGeom>
          <a:solidFill>
            <a:srgbClr val="16213E"/>
          </a:solidFill>
          <a:ln w="1905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457200"/>
          <a:lstStyle/>
          <a:p>
            <a:pPr algn="ctr"/>
            <a:br/>
          </a:p>
          <a:p>
            <a:pPr>
              <a:spcAft>
                <a:spcPts val="600"/>
              </a:spcAft>
              <a:defRPr sz="950">
                <a:solidFill>
                  <a:srgbClr val="E2E8F0"/>
                </a:solidFill>
                <a:latin typeface="Segoe UI"/>
              </a:defRPr>
            </a:pPr>
            <a:r>
              <a:t>• Engineered enterprise fault-tolerance: exponential backoff eliminates HTTP 503 crash vulnerabilities.</a:t>
            </a:r>
          </a:p>
          <a:p>
            <a:pPr>
              <a:spcAft>
                <a:spcPts val="600"/>
              </a:spcAft>
              <a:defRPr sz="950">
                <a:solidFill>
                  <a:srgbClr val="E2E8F0"/>
                </a:solidFill>
                <a:latin typeface="Segoe UI"/>
              </a:defRPr>
            </a:pPr>
            <a:r>
              <a:t>• Deterministic grounding auditor flags statutory hallucinations and prevents inversion errors.</a:t>
            </a:r>
          </a:p>
          <a:p>
            <a:pPr>
              <a:spcAft>
                <a:spcPts val="600"/>
              </a:spcAft>
              <a:defRPr sz="950">
                <a:solidFill>
                  <a:srgbClr val="E2E8F0"/>
                </a:solidFill>
                <a:latin typeface="Segoe UI"/>
              </a:defRPr>
            </a:pPr>
            <a:r>
              <a:t>• Backed by 60/60 passing automated tests and immutable JSON audit trails.</a:t>
            </a:r>
          </a:p>
        </p:txBody>
      </p:sp>
      <p:sp>
        <p:nvSpPr>
          <p:cNvPr id="12" name="Rounded Rectangle 11"/>
          <p:cNvSpPr/>
          <p:nvPr/>
        </p:nvSpPr>
        <p:spPr>
          <a:xfrm>
            <a:off x="8302752" y="1920240"/>
            <a:ext cx="2962656" cy="29260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00" b="1">
                <a:solidFill>
                  <a:srgbClr val="0A1128"/>
                </a:solidFill>
                <a:latin typeface="Segoe UI"/>
              </a:defRPr>
            </a:pPr>
            <a:r>
              <a:t>PRODUCTION RELIABILITY</a:t>
            </a:r>
          </a:p>
        </p:txBody>
      </p:sp>
      <p:sp>
        <p:nvSpPr>
          <p:cNvPr id="13" name="Rounded Rectangle 12"/>
          <p:cNvSpPr/>
          <p:nvPr/>
        </p:nvSpPr>
        <p:spPr>
          <a:xfrm>
            <a:off x="731520" y="5029200"/>
            <a:ext cx="10728655" cy="1097280"/>
          </a:xfrm>
          <a:prstGeom prst="roundRect">
            <a:avLst/>
          </a:prstGeom>
          <a:solidFill>
            <a:srgbClr val="122846"/>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spcAft>
                <a:spcPts val="400"/>
              </a:spcAft>
              <a:defRPr sz="1600" b="1">
                <a:solidFill>
                  <a:srgbClr val="38BDF8"/>
                </a:solidFill>
                <a:latin typeface="Segoe UI"/>
              </a:defRPr>
            </a:pPr>
            <a:r>
              <a:t>THANK YOU  |  OPEN FOR QUESTIONS &amp; DISCUSSION</a:t>
            </a:r>
          </a:p>
          <a:p>
            <a:pPr algn="ctr">
              <a:defRPr sz="1000">
                <a:solidFill>
                  <a:srgbClr val="F8FAFC"/>
                </a:solidFill>
                <a:latin typeface="Segoe UI"/>
              </a:defRPr>
            </a:pPr>
            <a:r>
              <a:t>Repository: Legal-Document-Summarization  •  Verified Checkpoint: models/checkpoints/civilsum_bart  •  60/60 Tests Passing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